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0" r:id="rId5"/>
    <p:sldId id="262" r:id="rId6"/>
    <p:sldId id="263" r:id="rId7"/>
    <p:sldId id="261" r:id="rId8"/>
    <p:sldId id="264" r:id="rId9"/>
    <p:sldId id="266" r:id="rId10"/>
    <p:sldId id="267" r:id="rId11"/>
    <p:sldId id="268" r:id="rId12"/>
    <p:sldId id="269" r:id="rId13"/>
    <p:sldId id="271" r:id="rId14"/>
    <p:sldId id="272" r:id="rId15"/>
    <p:sldId id="275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9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8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7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6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4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0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8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791AC-ECB4-45C1-B146-4D5F653150AE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A44CE-2FE4-494D-8C9E-1F4AB4FF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74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3188" y="1697128"/>
            <a:ext cx="9144000" cy="2387600"/>
          </a:xfrm>
          <a:solidFill>
            <a:schemeClr val="accent1"/>
          </a:solidFill>
        </p:spPr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7508" y="5042263"/>
            <a:ext cx="9144000" cy="9274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 err="1" smtClean="0"/>
              <a:t>Ths</a:t>
            </a:r>
            <a:r>
              <a:rPr lang="en-US" dirty="0" smtClean="0"/>
              <a:t>.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Xuân</a:t>
            </a:r>
            <a:r>
              <a:rPr lang="en-US" dirty="0" smtClean="0"/>
              <a:t> </a:t>
            </a:r>
            <a:r>
              <a:rPr lang="en-US" dirty="0" err="1" smtClean="0"/>
              <a:t>Thảo</a:t>
            </a:r>
            <a:endParaRPr lang="en-US" dirty="0" smtClean="0"/>
          </a:p>
          <a:p>
            <a:r>
              <a:rPr lang="en-US" dirty="0" err="1" smtClean="0"/>
              <a:t>Khoa</a:t>
            </a:r>
            <a:r>
              <a:rPr lang="en-US" dirty="0" smtClean="0"/>
              <a:t> CNTT-HVNNVN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875211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smtClean="0"/>
              <a:t>HỘI THẢO KHOA HỌC</a:t>
            </a:r>
            <a:endParaRPr lang="en-US" sz="54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837508" y="6570616"/>
            <a:ext cx="9144000" cy="287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 smtClean="0"/>
              <a:t>Hà</a:t>
            </a:r>
            <a:r>
              <a:rPr lang="en-US" sz="1600" dirty="0" smtClean="0"/>
              <a:t> </a:t>
            </a:r>
            <a:r>
              <a:rPr lang="en-US" sz="1600" dirty="0" err="1" smtClean="0"/>
              <a:t>Nội</a:t>
            </a:r>
            <a:r>
              <a:rPr lang="en-US" sz="1600" dirty="0" smtClean="0"/>
              <a:t>, 12-2021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082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03" y="274320"/>
            <a:ext cx="10515600" cy="875211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5400" dirty="0" err="1" smtClean="0"/>
              <a:t>Tóm</a:t>
            </a:r>
            <a:r>
              <a:rPr lang="en-US" sz="5400" dirty="0" smtClean="0"/>
              <a:t> </a:t>
            </a:r>
            <a:r>
              <a:rPr lang="en-US" sz="5400" dirty="0" err="1" smtClean="0"/>
              <a:t>tắt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703" y="1959429"/>
            <a:ext cx="9141823" cy="3995466"/>
          </a:xfrm>
        </p:spPr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 smtClean="0"/>
          </a:p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(Group decision </a:t>
            </a:r>
            <a:r>
              <a:rPr lang="en-US" dirty="0" err="1" smtClean="0"/>
              <a:t>making_GDM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ty</a:t>
            </a:r>
          </a:p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7937" y="1201783"/>
                <a:ext cx="11506200" cy="4962117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 err="1" smtClean="0"/>
                  <a:t>Bài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toán</a:t>
                </a:r>
                <a:r>
                  <a:rPr lang="en-US" dirty="0" smtClean="0"/>
                  <a:t> 1: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c.ty</a:t>
                </a:r>
                <a:r>
                  <a:rPr lang="en-US" dirty="0" smtClean="0"/>
                  <a:t> A </a:t>
                </a:r>
                <a:r>
                  <a:rPr lang="en-US" dirty="0" err="1" smtClean="0"/>
                  <a:t>tiến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hành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hoạt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động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doanh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4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hành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động</a:t>
                </a:r>
                <a:r>
                  <a:rPr lang="en-US" dirty="0" smtClean="0"/>
                  <a:t> X ={</a:t>
                </a:r>
                <a:r>
                  <a:rPr lang="en-US" dirty="0" err="1" smtClean="0"/>
                  <a:t>x,y,z,w</a:t>
                </a:r>
                <a:r>
                  <a:rPr lang="en-US" dirty="0" smtClean="0"/>
                  <a:t>}. Ban </a:t>
                </a:r>
                <a:r>
                  <a:rPr lang="en-US" dirty="0" err="1" smtClean="0"/>
                  <a:t>giám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đốc</a:t>
                </a:r>
                <a:r>
                  <a:rPr lang="en-US" dirty="0" smtClean="0"/>
                  <a:t> (BGĐ) </a:t>
                </a:r>
                <a:r>
                  <a:rPr lang="en-US" dirty="0" err="1" smtClean="0"/>
                  <a:t>c.ty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gồm</a:t>
                </a:r>
                <a:r>
                  <a:rPr lang="en-US" dirty="0" smtClean="0"/>
                  <a:t> 8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cần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đưa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h.động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chung</a:t>
                </a:r>
                <a:r>
                  <a:rPr lang="en-US" dirty="0" smtClean="0"/>
                  <a:t>. </a:t>
                </a:r>
                <a:r>
                  <a:rPr lang="en-US" dirty="0" err="1" smtClean="0"/>
                  <a:t>Biết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rằng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từng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trong</a:t>
                </a:r>
                <a:r>
                  <a:rPr lang="en-US" dirty="0" smtClean="0"/>
                  <a:t> BGĐ </a:t>
                </a:r>
                <a:r>
                  <a:rPr lang="en-US" dirty="0" err="1" smtClean="0"/>
                  <a:t>như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sau</a:t>
                </a:r>
                <a:r>
                  <a:rPr lang="en-US" dirty="0" smtClean="0"/>
                  <a:t>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=&lt;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</a:rPr>
                      <m:t>&gt;</m:t>
                    </m:r>
                  </m:oMath>
                </a14:m>
                <a:r>
                  <a:rPr lang="en-US" b="0" i="1" dirty="0" smtClean="0">
                    <a:latin typeface="Cambria Math"/>
                  </a:rPr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&gt;</m:t>
                    </m:r>
                    <m:r>
                      <a:rPr lang="en-US" b="0" i="1" smtClean="0">
                        <a:latin typeface="Cambria Math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 smtClean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dirty="0" smtClean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&gt;.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937" y="1201783"/>
                <a:ext cx="11506200" cy="4962117"/>
              </a:xfrm>
              <a:blipFill>
                <a:blip r:embed="rId2"/>
                <a:stretch>
                  <a:fillRect l="-1059" t="-1966" r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0"/>
            <a:ext cx="10515600" cy="74458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1. Một số bài toán ra quyết định nhóm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05355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US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dirty="0" smtClean="0"/>
                  <a:t>. Nam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sắp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trường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4 </a:t>
                </a:r>
                <a:r>
                  <a:rPr lang="en-US" dirty="0" err="1" smtClean="0"/>
                  <a:t>công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việc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thể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lựa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chọn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  <a:r>
                  <a:rPr lang="en-US" dirty="0" err="1" smtClean="0"/>
                  <a:t>Cậu</a:t>
                </a:r>
                <a:r>
                  <a:rPr lang="en-US" dirty="0" smtClean="0"/>
                  <a:t> ta </a:t>
                </a:r>
                <a:r>
                  <a:rPr lang="en-US" dirty="0" err="1" smtClean="0"/>
                  <a:t>hỏi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tư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vấn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từ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những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thân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8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như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sau</a:t>
                </a:r>
                <a:r>
                  <a:rPr lang="en-US" dirty="0" smtClean="0"/>
                  <a:t>:</a:t>
                </a:r>
              </a:p>
              <a:p>
                <a:pPr marL="0" indent="0" algn="just">
                  <a:buNone/>
                </a:pPr>
                <a:r>
                  <a:rPr lang="en-US" dirty="0" err="1" smtClean="0"/>
                  <a:t>Bố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mẹ</a:t>
                </a:r>
                <a:r>
                  <a:rPr lang="en-US" dirty="0" smtClean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 smtClean="0"/>
                  <a:t>&gt;</a:t>
                </a:r>
              </a:p>
              <a:p>
                <a:pPr marL="0" indent="0" algn="just">
                  <a:buNone/>
                </a:pPr>
                <a:r>
                  <a:rPr lang="en-US" dirty="0" err="1" smtClean="0"/>
                  <a:t>Thầy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giáo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b="0" i="1" smtClean="0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err="1" smtClean="0"/>
                  <a:t>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nội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ngoại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err="1" smtClean="0"/>
                  <a:t>Chị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gái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err="1" smtClean="0"/>
                  <a:t>Cậu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trai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err="1" smtClean="0"/>
                  <a:t>Cuối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cùng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nhóm</a:t>
                </a:r>
                <a:r>
                  <a:rPr lang="en-US" dirty="0" smtClean="0"/>
                  <a:t> 8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thống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nhất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để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tư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vấn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cho</a:t>
                </a:r>
                <a:r>
                  <a:rPr lang="en-US" dirty="0" smtClean="0"/>
                  <a:t> Nam </a:t>
                </a:r>
                <a:r>
                  <a:rPr lang="en-US" dirty="0" err="1" smtClean="0"/>
                  <a:t>lựa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chọn</a:t>
                </a:r>
                <a:r>
                  <a:rPr lang="en-US" dirty="0" smtClean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053557"/>
              </a:xfrm>
              <a:blipFill>
                <a:blip r:embed="rId2"/>
                <a:stretch>
                  <a:fillRect l="-1217" t="-217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0"/>
            <a:ext cx="10515600" cy="74458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1. Một số bài toán ra quyết định nhóm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68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đời</a:t>
            </a:r>
            <a:r>
              <a:rPr lang="en-US" dirty="0" smtClean="0"/>
              <a:t> </a:t>
            </a:r>
            <a:r>
              <a:rPr lang="en-US" dirty="0" err="1" smtClean="0"/>
              <a:t>sống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ngày</a:t>
            </a:r>
            <a:r>
              <a:rPr lang="en-US" dirty="0" smtClean="0"/>
              <a:t>,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,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,…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mặt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với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tình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huống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vấn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đề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: </a:t>
            </a:r>
          </a:p>
          <a:p>
            <a:pPr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Mục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tiêu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quyết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định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ích</a:t>
            </a:r>
            <a:r>
              <a:rPr lang="en-US" dirty="0" smtClean="0"/>
              <a:t>, phi </a:t>
            </a:r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ích</a:t>
            </a:r>
            <a:r>
              <a:rPr lang="en-US" dirty="0" smtClean="0"/>
              <a:t>)</a:t>
            </a:r>
          </a:p>
          <a:p>
            <a:pPr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Điều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kiện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ràng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buộc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(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,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, con </a:t>
            </a:r>
            <a:r>
              <a:rPr lang="en-US" dirty="0" err="1" smtClean="0"/>
              <a:t>người</a:t>
            </a:r>
            <a:r>
              <a:rPr lang="en-US" dirty="0" smtClean="0"/>
              <a:t>,…)</a:t>
            </a:r>
          </a:p>
          <a:p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---&gt;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smtClean="0"/>
              <a:t>Ra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0"/>
            <a:ext cx="10515600" cy="74458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1. Một số bài toán ra quyết định nhóm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48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1 </a:t>
            </a:r>
            <a:r>
              <a:rPr lang="en-US" dirty="0" err="1" smtClean="0"/>
              <a:t>người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+ </a:t>
            </a:r>
            <a:r>
              <a:rPr lang="en-US" dirty="0" err="1" smtClean="0"/>
              <a:t>Thứ</a:t>
            </a:r>
            <a:r>
              <a:rPr lang="en-US" dirty="0" smtClean="0"/>
              <a:t> 1: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đíc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+ </a:t>
            </a:r>
            <a:r>
              <a:rPr lang="en-US" dirty="0" err="1" smtClean="0"/>
              <a:t>Thứ</a:t>
            </a:r>
            <a:r>
              <a:rPr lang="en-US" dirty="0" smtClean="0"/>
              <a:t> 2: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0"/>
            <a:ext cx="10515600" cy="74458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1.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20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7646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en-US" dirty="0" smtClean="0"/>
              <a:t>2.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979714"/>
                <a:ext cx="10644051" cy="519724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Mô </a:t>
                </a:r>
                <a:r>
                  <a:rPr lang="en-US" dirty="0" err="1" smtClean="0"/>
                  <a:t>hình</a:t>
                </a:r>
                <a:r>
                  <a:rPr lang="en-US" dirty="0" smtClean="0"/>
                  <a:t> Blin </a:t>
                </a:r>
                <a:r>
                  <a:rPr lang="en-US" dirty="0" err="1" smtClean="0"/>
                  <a:t>và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Whinston</a:t>
                </a:r>
                <a:r>
                  <a:rPr lang="en-US" dirty="0" smtClean="0"/>
                  <a:t> (1973)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Mô </a:t>
                </a:r>
                <a:r>
                  <a:rPr lang="en-US" b="1" dirty="0" err="1" smtClean="0"/>
                  <a:t>hình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có</a:t>
                </a:r>
                <a:r>
                  <a:rPr lang="en-US" b="1" dirty="0" smtClean="0"/>
                  <a:t>: </a:t>
                </a:r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Tập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án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Mỗi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/>
                      </a:rPr>
                      <m:t>=1,..,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0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US" dirty="0" err="1" smtClean="0"/>
                  <a:t>trong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tập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án</a:t>
                </a:r>
                <a:r>
                  <a:rPr lang="en-US" dirty="0" smtClean="0"/>
                  <a:t> X.</a:t>
                </a:r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Gọi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thích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hơn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Ta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xác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trên</a:t>
                </a:r>
                <a:r>
                  <a:rPr lang="en-US" dirty="0" smtClean="0"/>
                  <a:t> X </a:t>
                </a:r>
                <a:r>
                  <a:rPr lang="en-US" dirty="0" err="1" smtClean="0"/>
                  <a:t>như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sau</a:t>
                </a: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</m:t>
                      </m:r>
                      <m:r>
                        <a:rPr lang="en-US" b="0" i="1" smtClean="0">
                          <a:latin typeface="Cambria Math"/>
                        </a:rPr>
                        <m:t>:</m:t>
                      </m:r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  <m:r>
                        <a:rPr lang="en-US" b="0" i="1" smtClean="0">
                          <a:latin typeface="Cambria Math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>Với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b="0" dirty="0" smtClean="0"/>
                  <a:t> </a:t>
                </a:r>
                <a:r>
                  <a:rPr lang="en-US" b="0" dirty="0" err="1" smtClean="0"/>
                  <a:t>là</a:t>
                </a:r>
                <a:r>
                  <a:rPr lang="en-US" b="0" dirty="0" smtClean="0"/>
                  <a:t> </a:t>
                </a:r>
                <a:r>
                  <a:rPr lang="en-US" b="0" dirty="0" err="1" smtClean="0"/>
                  <a:t>số</a:t>
                </a:r>
                <a:r>
                  <a:rPr lang="en-US" b="0" dirty="0" smtClean="0"/>
                  <a:t> </a:t>
                </a:r>
                <a:r>
                  <a:rPr lang="en-US" b="0" dirty="0" err="1" smtClean="0"/>
                  <a:t>người</a:t>
                </a:r>
                <a:r>
                  <a:rPr lang="en-US" b="0" dirty="0" smtClean="0"/>
                  <a:t> </a:t>
                </a:r>
                <a:r>
                  <a:rPr lang="en-US" b="0" dirty="0" err="1" smtClean="0"/>
                  <a:t>ưa</a:t>
                </a:r>
                <a:r>
                  <a:rPr lang="en-US" b="0" dirty="0" smtClean="0"/>
                  <a:t> </a:t>
                </a:r>
                <a:r>
                  <a:rPr lang="en-US" b="0" dirty="0" err="1" smtClean="0"/>
                  <a:t>thích</a:t>
                </a:r>
                <a:r>
                  <a:rPr lang="en-US" b="0" dirty="0" smtClean="0"/>
                  <a:t> </a:t>
                </a:r>
                <a:r>
                  <a:rPr lang="en-US" dirty="0" smtClean="0"/>
                  <a:t>p.án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hơn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tập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án</a:t>
                </a:r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979714"/>
                <a:ext cx="10644051" cy="5197249"/>
              </a:xfrm>
              <a:blipFill>
                <a:blip r:embed="rId2"/>
                <a:stretch>
                  <a:fillRect l="-97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48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66651"/>
                <a:ext cx="10515600" cy="5210312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Giả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sử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</a:rPr>
                      <m:t>∈[0,1]</m:t>
                    </m:r>
                  </m:oMath>
                </a14:m>
                <a:r>
                  <a:rPr lang="en-US" dirty="0" smtClean="0"/>
                  <a:t> ta </a:t>
                </a:r>
                <a:r>
                  <a:rPr lang="en-US" dirty="0" err="1" smtClean="0"/>
                  <a:t>xác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chỉ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cặp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thỏa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mãn</a:t>
                </a:r>
                <a:r>
                  <a:rPr lang="en-US" dirty="0"/>
                  <a:t> </a:t>
                </a:r>
                <a:r>
                  <a:rPr lang="en-US" dirty="0" err="1" smtClean="0"/>
                  <a:t>điều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kiện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này</a:t>
                </a:r>
                <a:r>
                  <a:rPr lang="en-US" dirty="0" smtClean="0"/>
                  <a:t>) </a:t>
                </a:r>
                <a:r>
                  <a:rPr lang="en-US" dirty="0" err="1" smtClean="0"/>
                  <a:t>chính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dirty="0" smtClean="0"/>
                  <a:t>- </a:t>
                </a:r>
                <a:r>
                  <a:rPr lang="en-US" dirty="0" err="1" smtClean="0"/>
                  <a:t>nhát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cắt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trên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nó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biểu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thị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mức</a:t>
                </a:r>
                <a:r>
                  <a:rPr lang="en-US" i="1" dirty="0" smtClean="0"/>
                  <a:t> </a:t>
                </a:r>
                <a:r>
                  <a:rPr lang="en-US" i="1" dirty="0" err="1" smtClean="0"/>
                  <a:t>đồng</a:t>
                </a:r>
                <a:r>
                  <a:rPr lang="en-US" i="1" dirty="0" smtClean="0"/>
                  <a:t> ý </a:t>
                </a:r>
                <a:r>
                  <a:rPr lang="en-US" dirty="0" err="1" smtClean="0"/>
                  <a:t>giữa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thành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trong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nhóm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về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Tìm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toàn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phần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ứng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tức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tập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thỏa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mãn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Giảm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dần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từ</a:t>
                </a:r>
                <a:r>
                  <a:rPr lang="en-US" dirty="0" smtClean="0"/>
                  <a:t> 1 </a:t>
                </a:r>
                <a:r>
                  <a:rPr lang="en-US" dirty="0" err="1" smtClean="0"/>
                  <a:t>về</a:t>
                </a:r>
                <a:r>
                  <a:rPr lang="en-US" dirty="0" smtClean="0"/>
                  <a:t> 0, </a:t>
                </a:r>
                <a:r>
                  <a:rPr lang="en-US" dirty="0" err="1" smtClean="0"/>
                  <a:t>đến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khi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tìm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được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sao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cho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 smtClean="0"/>
                  <a:t>chỉ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phần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tử</a:t>
                </a:r>
                <a:r>
                  <a:rPr lang="en-US" dirty="0"/>
                  <a:t> </a:t>
                </a:r>
                <a:r>
                  <a:rPr lang="en-US" dirty="0" smtClean="0"/>
                  <a:t>( </a:t>
                </a:r>
                <a:r>
                  <a:rPr lang="en-US" dirty="0" err="1" smtClean="0"/>
                  <a:t>gọi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chung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nhóm</a:t>
                </a:r>
                <a:r>
                  <a:rPr lang="en-US" dirty="0" smtClean="0"/>
                  <a:t>) </a:t>
                </a:r>
                <a:r>
                  <a:rPr lang="en-US" dirty="0" err="1" smtClean="0"/>
                  <a:t>hoặc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không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phần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tử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nào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ý </a:t>
                </a:r>
                <a:r>
                  <a:rPr lang="en-US" dirty="0" err="1" smtClean="0"/>
                  <a:t>nghĩa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nhóm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66651"/>
                <a:ext cx="10515600" cy="5210312"/>
              </a:xfrm>
              <a:blipFill>
                <a:blip r:embed="rId2"/>
                <a:stretch>
                  <a:fillRect l="-1217" t="-199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1"/>
            <a:ext cx="10515600" cy="757646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mtClean="0"/>
              <a:t>2. Mô hình ra quyết định nhóm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21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40971"/>
          </a:xfrm>
          <a:solidFill>
            <a:srgbClr val="92D05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3.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GDM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2229"/>
                <a:ext cx="10515600" cy="467473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 err="1" smtClean="0"/>
                  <a:t>Bài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toán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c.ty</a:t>
                </a:r>
                <a:r>
                  <a:rPr lang="en-US" dirty="0" smtClean="0"/>
                  <a:t> A </a:t>
                </a:r>
                <a:r>
                  <a:rPr lang="en-US" dirty="0" err="1" smtClean="0"/>
                  <a:t>tiến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hành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hoạt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động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doanh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4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hành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động</a:t>
                </a:r>
                <a:r>
                  <a:rPr lang="en-US" dirty="0" smtClean="0"/>
                  <a:t> X ={w, </a:t>
                </a:r>
                <a:r>
                  <a:rPr lang="en-US" dirty="0" err="1" smtClean="0"/>
                  <a:t>x,y</a:t>
                </a:r>
                <a:r>
                  <a:rPr lang="en-US" dirty="0" smtClean="0"/>
                  <a:t>, z}. Ban </a:t>
                </a:r>
                <a:r>
                  <a:rPr lang="en-US" dirty="0" err="1" smtClean="0"/>
                  <a:t>giám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đốc</a:t>
                </a:r>
                <a:r>
                  <a:rPr lang="en-US" dirty="0" smtClean="0"/>
                  <a:t> (BGĐ) </a:t>
                </a:r>
                <a:r>
                  <a:rPr lang="en-US" dirty="0" err="1" smtClean="0"/>
                  <a:t>c.ty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gồm</a:t>
                </a:r>
                <a:r>
                  <a:rPr lang="en-US" dirty="0" smtClean="0"/>
                  <a:t> 8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cần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đưa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một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h.động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chung</a:t>
                </a:r>
                <a:r>
                  <a:rPr lang="en-US" dirty="0" smtClean="0"/>
                  <a:t>. </a:t>
                </a:r>
                <a:r>
                  <a:rPr lang="en-US" dirty="0" err="1" smtClean="0"/>
                  <a:t>Biết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rằng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p.án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từng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trong</a:t>
                </a:r>
                <a:r>
                  <a:rPr lang="en-US" dirty="0" smtClean="0"/>
                  <a:t> BGĐ </a:t>
                </a:r>
                <a:r>
                  <a:rPr lang="en-US" dirty="0" err="1" smtClean="0"/>
                  <a:t>như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sau</a:t>
                </a:r>
                <a:r>
                  <a:rPr lang="en-US" dirty="0" smtClean="0"/>
                  <a:t>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=&lt;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</a:rPr>
                      <m:t>&gt;</m:t>
                    </m:r>
                  </m:oMath>
                </a14:m>
                <a:r>
                  <a:rPr lang="en-US" b="0" i="1" dirty="0" smtClean="0">
                    <a:latin typeface="Cambria Math"/>
                  </a:rPr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&gt;</m:t>
                    </m:r>
                    <m:r>
                      <a:rPr lang="en-US" b="0" i="1" smtClean="0">
                        <a:latin typeface="Cambria Math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 smtClean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dirty="0" smtClean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&gt;.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2229"/>
                <a:ext cx="10515600" cy="4674734"/>
              </a:xfrm>
              <a:blipFill>
                <a:blip r:embed="rId2"/>
                <a:stretch>
                  <a:fillRect l="-1217" t="-2086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97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10515600" cy="509451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Tập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phương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án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+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Ma </a:t>
                </a:r>
                <a:r>
                  <a:rPr lang="en-US" dirty="0" err="1" smtClean="0"/>
                  <a:t>trận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thích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hơn</a:t>
                </a:r>
                <a:r>
                  <a:rPr lang="en-US" dirty="0" smtClean="0"/>
                  <a:t> N </a:t>
                </a:r>
                <a:r>
                  <a:rPr lang="en-US" dirty="0" err="1" smtClean="0"/>
                  <a:t>và</a:t>
                </a:r>
                <a:r>
                  <a:rPr lang="en-US" dirty="0" smtClean="0"/>
                  <a:t> ma </a:t>
                </a:r>
                <a:r>
                  <a:rPr lang="en-US" dirty="0" err="1" smtClean="0"/>
                  <a:t>trận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thích</a:t>
                </a:r>
                <a:r>
                  <a:rPr lang="en-US" dirty="0" smtClean="0"/>
                  <a:t> R:                            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10515600" cy="5094514"/>
              </a:xfrm>
              <a:blipFill>
                <a:blip r:embed="rId2"/>
                <a:stretch>
                  <a:fillRect l="-1043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-1"/>
            <a:ext cx="10515600" cy="1240971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3.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GDM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729549" y="1410788"/>
                <a:ext cx="4624252" cy="26256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&gt;</m:t>
                    </m:r>
                  </m:oMath>
                </a14:m>
                <a:r>
                  <a:rPr lang="en-US" i="1" dirty="0">
                    <a:latin typeface="Cambria Math"/>
                  </a:rPr>
                  <a:t>;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;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&gt;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=&lt;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&gt;.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549" y="1410788"/>
                <a:ext cx="4624252" cy="2625635"/>
              </a:xfrm>
              <a:prstGeom prst="rect">
                <a:avLst/>
              </a:prstGeom>
              <a:blipFill>
                <a:blip r:embed="rId3"/>
                <a:stretch>
                  <a:fillRect t="-3944" b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618" y="4704080"/>
            <a:ext cx="4398291" cy="17863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4704079"/>
            <a:ext cx="3799115" cy="164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0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32856"/>
                <a:ext cx="10630989" cy="501613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Xếp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(chỉ ra các cặp ưa thích hơn đáp ứng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100% 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những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) </a:t>
                </a:r>
              </a:p>
              <a:p>
                <a:r>
                  <a:rPr lang="en-US" dirty="0" err="1" smtClean="0"/>
                  <a:t>Chính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nhát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cắt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ứng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R: 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ở </a:t>
                </a:r>
                <a:r>
                  <a:rPr lang="en-US" dirty="0" err="1" smtClean="0"/>
                  <a:t>đây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sẽ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không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ràng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buộc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nào</a:t>
                </a:r>
                <a:endParaRPr lang="en-US" dirty="0" smtClean="0"/>
              </a:p>
              <a:p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toàn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phần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là </a:t>
                </a:r>
                <a:r>
                  <a:rPr lang="en-US" dirty="0" err="1" smtClean="0"/>
                  <a:t>tất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xếp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đưa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32856"/>
                <a:ext cx="10630989" cy="5016137"/>
              </a:xfrm>
              <a:blipFill>
                <a:blip r:embed="rId2"/>
                <a:stretch>
                  <a:fillRect l="-975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-1"/>
            <a:ext cx="10515600" cy="1240971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3.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GDM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ty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89" y="3073321"/>
            <a:ext cx="4750988" cy="19036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073321"/>
            <a:ext cx="4398291" cy="178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8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5474"/>
                <a:ext cx="10515600" cy="539496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Xếp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US" dirty="0" smtClean="0"/>
                  <a:t> (chỉ ra các cặp ưa thích hơn đáp ứng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75% 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những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) </a:t>
                </a:r>
              </a:p>
              <a:p>
                <a:r>
                  <a:rPr lang="en-US" dirty="0" err="1" smtClean="0"/>
                  <a:t>Chính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nhát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cắt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sub>
                    </m:sSub>
                  </m:oMath>
                </a14:m>
                <a:r>
                  <a:rPr lang="en-US" dirty="0" smtClean="0"/>
                  <a:t> ứng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US" dirty="0" smtClean="0"/>
                  <a:t> 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R: 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ở </a:t>
                </a:r>
                <a:r>
                  <a:rPr lang="en-US" dirty="0" err="1" smtClean="0"/>
                  <a:t>đây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chỉ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cặp</a:t>
                </a:r>
                <a:r>
                  <a:rPr lang="en-US" dirty="0"/>
                  <a:t> </a:t>
                </a:r>
                <a:r>
                  <a:rPr lang="en-US" dirty="0" err="1" smtClean="0"/>
                  <a:t>ràng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buộc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phải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thỏa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mãn</a:t>
                </a:r>
                <a:endParaRPr lang="en-US" dirty="0" smtClean="0"/>
              </a:p>
              <a:p>
                <a:r>
                  <a:rPr lang="en-US" dirty="0" smtClean="0"/>
                  <a:t>Quan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toàn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phần</a:t>
                </a: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0.75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5474"/>
                <a:ext cx="10515600" cy="5394960"/>
              </a:xfrm>
              <a:blipFill>
                <a:blip r:embed="rId2"/>
                <a:stretch>
                  <a:fillRect l="-1043" t="-1921"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-1"/>
            <a:ext cx="10515600" cy="1240971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3.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GDM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ty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01" y="2788821"/>
            <a:ext cx="3993342" cy="18141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58" y="2816593"/>
            <a:ext cx="4398291" cy="178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2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5474"/>
                <a:ext cx="10515600" cy="539496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Xếp </a:t>
                </a:r>
                <a:r>
                  <a:rPr lang="en-US" dirty="0" err="1" smtClean="0"/>
                  <a:t>hạng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=0.625</m:t>
                    </m:r>
                  </m:oMath>
                </a14:m>
                <a:r>
                  <a:rPr lang="en-US" dirty="0" smtClean="0"/>
                  <a:t> (chỉ ra các cặp ưa thích hơn đáp ứng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62.5% 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ưu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những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người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quyết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định</a:t>
                </a:r>
                <a:r>
                  <a:rPr lang="en-US" dirty="0" smtClean="0"/>
                  <a:t>) </a:t>
                </a:r>
              </a:p>
              <a:p>
                <a:r>
                  <a:rPr lang="en-US" dirty="0" err="1" smtClean="0"/>
                  <a:t>Chính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nhát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cắt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0.625</m:t>
                        </m:r>
                      </m:sub>
                    </m:sSub>
                  </m:oMath>
                </a14:m>
                <a:r>
                  <a:rPr lang="en-US" dirty="0" smtClean="0"/>
                  <a:t> ứng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=0.625</m:t>
                    </m:r>
                  </m:oMath>
                </a14:m>
                <a:r>
                  <a:rPr lang="en-US" dirty="0" smtClean="0"/>
                  <a:t> 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mờ</a:t>
                </a:r>
                <a:r>
                  <a:rPr lang="en-US" dirty="0" smtClean="0"/>
                  <a:t> R: 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err="1" smtClean="0"/>
                  <a:t>Quan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bộ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phận</a:t>
                </a:r>
                <a:r>
                  <a:rPr lang="en-US" dirty="0" smtClean="0"/>
                  <a:t> ở </a:t>
                </a:r>
                <a:r>
                  <a:rPr lang="en-US" dirty="0" err="1" smtClean="0"/>
                  <a:t>đây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chỉ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có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cặp</a:t>
                </a:r>
                <a:r>
                  <a:rPr lang="en-US" dirty="0"/>
                  <a:t> </a:t>
                </a:r>
                <a:r>
                  <a:rPr lang="en-US" dirty="0" err="1" smtClean="0"/>
                  <a:t>ràng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buộc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phải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thỏa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mãn</a:t>
                </a:r>
                <a:endParaRPr lang="en-US" dirty="0" smtClean="0"/>
              </a:p>
              <a:p>
                <a:r>
                  <a:rPr lang="en-US" dirty="0" smtClean="0"/>
                  <a:t>Quan </a:t>
                </a:r>
                <a:r>
                  <a:rPr lang="en-US" dirty="0" err="1" smtClean="0"/>
                  <a:t>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toàn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phần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0.625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err="1" smtClean="0"/>
                  <a:t>Kết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luận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tự</a:t>
                </a:r>
                <a:r>
                  <a:rPr lang="en-US" dirty="0" smtClean="0"/>
                  <a:t> p/a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nhóm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mức</a:t>
                </a:r>
                <a:r>
                  <a:rPr lang="en-US" dirty="0" smtClean="0"/>
                  <a:t> ý </a:t>
                </a:r>
                <a:r>
                  <a:rPr lang="en-US" dirty="0" err="1" smtClean="0"/>
                  <a:t>nghĩa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62.5%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5474"/>
                <a:ext cx="10515600" cy="5394960"/>
              </a:xfrm>
              <a:blipFill>
                <a:blip r:embed="rId2"/>
                <a:stretch>
                  <a:fillRect l="-1043" t="-1921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838200" y="-1"/>
            <a:ext cx="10515600" cy="1240971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3.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GDM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ty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64" y="2803431"/>
            <a:ext cx="4398291" cy="17863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03431"/>
            <a:ext cx="4568107" cy="162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8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215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 smtClean="0"/>
              <a:t>4.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4988243"/>
          </a:xfrm>
        </p:spPr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,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tiễn</a:t>
            </a:r>
            <a:r>
              <a:rPr lang="en-US" dirty="0" smtClean="0"/>
              <a:t> </a:t>
            </a:r>
            <a:r>
              <a:rPr lang="en-US" dirty="0" err="1" smtClean="0"/>
              <a:t>khá</a:t>
            </a:r>
            <a:r>
              <a:rPr lang="en-US" dirty="0" smtClean="0"/>
              <a:t> </a:t>
            </a:r>
            <a:r>
              <a:rPr lang="en-US" dirty="0" err="1" smtClean="0"/>
              <a:t>thú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endParaRPr lang="en-US" dirty="0" smtClean="0"/>
          </a:p>
          <a:p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 smtClean="0"/>
          </a:p>
          <a:p>
            <a:r>
              <a:rPr lang="en-US" dirty="0" err="1" smtClean="0"/>
              <a:t>Cải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: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cảm</a:t>
            </a:r>
            <a:r>
              <a:rPr lang="en-US" dirty="0" smtClean="0"/>
              <a:t>,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bức</a:t>
            </a:r>
            <a:r>
              <a:rPr lang="en-US" dirty="0" smtClean="0"/>
              <a:t> </a:t>
            </a:r>
            <a:r>
              <a:rPr lang="en-US" dirty="0" err="1" smtClean="0"/>
              <a:t>tranh</a:t>
            </a:r>
            <a:r>
              <a:rPr lang="en-US" dirty="0" smtClean="0"/>
              <a:t>,...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2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3868"/>
            <a:ext cx="10515600" cy="823595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nghiên</a:t>
            </a:r>
            <a:r>
              <a:rPr lang="en-US" dirty="0" smtClean="0"/>
              <a:t> </a:t>
            </a:r>
            <a:r>
              <a:rPr lang="en-US" dirty="0" err="1" smtClean="0"/>
              <a:t>cứu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lai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4113"/>
            <a:ext cx="10515600" cy="428284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GDM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GDM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WBM (worst-best model)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chí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MCDM.</a:t>
            </a:r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sang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mờ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4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>
            <a:spLocks noGrp="1" noChangeArrowheads="1"/>
          </p:cNvSpPr>
          <p:nvPr>
            <p:ph idx="1"/>
          </p:nvPr>
        </p:nvSpPr>
        <p:spPr bwMode="auto"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indent="0" algn="ctr">
              <a:buNone/>
            </a:pPr>
            <a:r>
              <a:rPr lang="en-US" altLang="ja-JP" sz="6600" b="1" dirty="0">
                <a:solidFill>
                  <a:srgbClr val="0066FF"/>
                </a:solidFill>
                <a:ea typeface="ＭＳ Ｐゴシック" pitchFamily="34" charset="-128"/>
              </a:rPr>
              <a:t>CÁM </a:t>
            </a:r>
            <a:r>
              <a:rPr lang="en-US" altLang="ja-JP" sz="6600" b="1" dirty="0" smtClean="0">
                <a:solidFill>
                  <a:srgbClr val="0066FF"/>
                </a:solidFill>
                <a:ea typeface="ＭＳ Ｐゴシック" pitchFamily="34" charset="-128"/>
              </a:rPr>
              <a:t>ƠN!</a:t>
            </a:r>
            <a:endParaRPr lang="en-US" sz="66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15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4"/>
            <a:ext cx="10515600" cy="1006475"/>
          </a:xfrm>
        </p:spPr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NXB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2008</a:t>
            </a:r>
          </a:p>
          <a:p>
            <a:pPr marL="0" indent="0">
              <a:buNone/>
            </a:pPr>
            <a:r>
              <a:rPr lang="en-US" i="1" dirty="0"/>
              <a:t>2.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, </a:t>
            </a:r>
            <a:r>
              <a:rPr lang="en-US" i="1" dirty="0" err="1"/>
              <a:t>Vận</a:t>
            </a:r>
            <a:r>
              <a:rPr lang="en-US" i="1" dirty="0"/>
              <a:t> </a:t>
            </a:r>
            <a:r>
              <a:rPr lang="en-US" i="1" dirty="0" err="1"/>
              <a:t>trù</a:t>
            </a:r>
            <a:r>
              <a:rPr lang="en-US" i="1" dirty="0"/>
              <a:t> </a:t>
            </a:r>
            <a:r>
              <a:rPr lang="en-US" i="1" dirty="0" err="1"/>
              <a:t>bất</a:t>
            </a:r>
            <a:r>
              <a:rPr lang="en-US" i="1" dirty="0"/>
              <a:t> </a:t>
            </a:r>
            <a:r>
              <a:rPr lang="en-US" i="1" dirty="0" err="1"/>
              <a:t>định</a:t>
            </a:r>
            <a:r>
              <a:rPr lang="en-US" dirty="0"/>
              <a:t>, NXB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2009</a:t>
            </a:r>
          </a:p>
          <a:p>
            <a:pPr marL="0" indent="0" algn="just">
              <a:buNone/>
            </a:pPr>
            <a:r>
              <a:rPr lang="en-US" i="1" dirty="0"/>
              <a:t>3. </a:t>
            </a:r>
            <a:r>
              <a:rPr lang="en-US" i="1" dirty="0" err="1"/>
              <a:t>Bài</a:t>
            </a:r>
            <a:r>
              <a:rPr lang="en-US" i="1" dirty="0"/>
              <a:t> </a:t>
            </a:r>
            <a:r>
              <a:rPr lang="en-US" i="1" dirty="0" err="1"/>
              <a:t>giảng</a:t>
            </a:r>
            <a:r>
              <a:rPr lang="en-US" i="1" dirty="0"/>
              <a:t> Ra </a:t>
            </a:r>
            <a:r>
              <a:rPr lang="en-US" i="1" dirty="0" err="1"/>
              <a:t>quyết</a:t>
            </a:r>
            <a:r>
              <a:rPr lang="en-US" i="1" dirty="0"/>
              <a:t> </a:t>
            </a:r>
            <a:r>
              <a:rPr lang="en-US" i="1" dirty="0" err="1"/>
              <a:t>định</a:t>
            </a:r>
            <a:r>
              <a:rPr lang="en-US" i="1" dirty="0"/>
              <a:t> </a:t>
            </a:r>
            <a:r>
              <a:rPr lang="en-US" i="1" dirty="0" err="1"/>
              <a:t>mờ</a:t>
            </a:r>
            <a:r>
              <a:rPr lang="en-US" dirty="0"/>
              <a:t>,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Xuân</a:t>
            </a:r>
            <a:r>
              <a:rPr lang="en-US" dirty="0"/>
              <a:t> </a:t>
            </a:r>
            <a:r>
              <a:rPr lang="en-US" dirty="0" err="1"/>
              <a:t>Thảo</a:t>
            </a:r>
            <a:endParaRPr lang="en-US" dirty="0"/>
          </a:p>
          <a:p>
            <a:pPr marL="0" indent="0" algn="just">
              <a:buNone/>
            </a:pPr>
            <a:r>
              <a:rPr lang="en-US" i="1" dirty="0"/>
              <a:t>4. Fuzzy set theory and its applications</a:t>
            </a:r>
            <a:r>
              <a:rPr lang="en-US" dirty="0"/>
              <a:t>, Springer 2017, </a:t>
            </a:r>
            <a:r>
              <a:rPr lang="en-US" dirty="0" err="1"/>
              <a:t>H.J.Zimmermmann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2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872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Theme</vt:lpstr>
      <vt:lpstr>Mô hình ra quyết định mờ nhóm và ứng dụng</vt:lpstr>
      <vt:lpstr>Tóm tắt</vt:lpstr>
      <vt:lpstr>PowerPoint Presentation</vt:lpstr>
      <vt:lpstr>PowerPoint Presentation</vt:lpstr>
      <vt:lpstr>PowerPoint Presentation</vt:lpstr>
      <vt:lpstr>PowerPoint Presentation</vt:lpstr>
      <vt:lpstr>2. Mô hình ra quyết định nhóm</vt:lpstr>
      <vt:lpstr>PowerPoint Presentation</vt:lpstr>
      <vt:lpstr>3. Ứng dụng GDM vào xếp hạng các phương án hành động của một công ty</vt:lpstr>
      <vt:lpstr>PowerPoint Presentation</vt:lpstr>
      <vt:lpstr>PowerPoint Presentation</vt:lpstr>
      <vt:lpstr>PowerPoint Presentation</vt:lpstr>
      <vt:lpstr>PowerPoint Presentation</vt:lpstr>
      <vt:lpstr>4. Kết luận</vt:lpstr>
      <vt:lpstr>Hướng nghiên cứu tương lai</vt:lpstr>
      <vt:lpstr>PowerPoint Presentation</vt:lpstr>
      <vt:lpstr>Một số 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ra quyết định mờ nhóm và ứng dụng</dc:title>
  <dc:creator>DELL</dc:creator>
  <cp:lastModifiedBy>DELL</cp:lastModifiedBy>
  <cp:revision>51</cp:revision>
  <dcterms:created xsi:type="dcterms:W3CDTF">2021-12-10T14:39:56Z</dcterms:created>
  <dcterms:modified xsi:type="dcterms:W3CDTF">2021-12-15T02:37:08Z</dcterms:modified>
</cp:coreProperties>
</file>