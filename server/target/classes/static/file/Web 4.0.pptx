
<file path=[Content_Types].xml><?xml version="1.0" encoding="utf-8"?>
<Types xmlns="http://schemas.openxmlformats.org/package/2006/content-types">
  <Default Extension="png" ContentType="image/png"/>
  <Default Extension="jfif" ContentType="image/jpe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21"/>
  </p:notesMasterIdLst>
  <p:handoutMasterIdLst>
    <p:handoutMasterId r:id="rId22"/>
  </p:handoutMasterIdLst>
  <p:sldIdLst>
    <p:sldId id="256" r:id="rId5"/>
    <p:sldId id="257" r:id="rId6"/>
    <p:sldId id="258" r:id="rId7"/>
    <p:sldId id="286" r:id="rId8"/>
    <p:sldId id="287" r:id="rId9"/>
    <p:sldId id="288" r:id="rId10"/>
    <p:sldId id="289" r:id="rId11"/>
    <p:sldId id="290" r:id="rId12"/>
    <p:sldId id="291" r:id="rId13"/>
    <p:sldId id="292" r:id="rId14"/>
    <p:sldId id="293" r:id="rId15"/>
    <p:sldId id="260" r:id="rId16"/>
    <p:sldId id="294" r:id="rId17"/>
    <p:sldId id="295" r:id="rId18"/>
    <p:sldId id="268" r:id="rId19"/>
    <p:sldId id="28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3350"/>
    <a:srgbClr val="0C4360"/>
    <a:srgbClr val="1B6872"/>
    <a:srgbClr val="63B7C6"/>
    <a:srgbClr val="002136"/>
    <a:srgbClr val="0C75AC"/>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1" d="100"/>
          <a:sy n="71" d="100"/>
        </p:scale>
        <p:origin x="72" y="120"/>
      </p:cViewPr>
      <p:guideLst>
        <p:guide orient="horz" pos="2160"/>
        <p:guide pos="3840"/>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US" smtClean="0"/>
              <a:t>9/23/2024</a:t>
            </a:fld>
            <a:endParaRPr lang="en-US" dirty="0"/>
          </a:p>
        </p:txBody>
      </p:sp>
      <p:sp>
        <p:nvSpPr>
          <p:cNvPr id="4" name="Footer Placeholder 3">
            <a:extLst>
              <a:ext uri="{FF2B5EF4-FFF2-40B4-BE49-F238E27FC236}">
                <a16:creationId xmlns:a16="http://schemas.microsoft.com/office/drawing/2014/main"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US" smtClean="0"/>
              <a:t>‹#›</a:t>
            </a:fld>
            <a:endParaRPr lang="en-US" dirty="0"/>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US" noProof="0" smtClean="0"/>
              <a:t>9/23/2024</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US" noProof="0" smtClean="0"/>
              <a:t>‹#›</a:t>
            </a:fld>
            <a:endParaRPr lang="en-US" noProof="0" dirty="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a:extLst>
              <a:ext uri="{FF2B5EF4-FFF2-40B4-BE49-F238E27FC236}">
                <a16:creationId xmlns:a16="http://schemas.microsoft.com/office/drawing/2014/main" id="{4CA15AFD-4983-47DD-9ED0-D3B27E5A096F}"/>
              </a:ext>
            </a:extLst>
          </p:cNvPr>
          <p:cNvGrpSpPr/>
          <p:nvPr userDrawn="1"/>
        </p:nvGrpSpPr>
        <p:grpSpPr>
          <a:xfrm>
            <a:off x="-1604709" y="-3756"/>
            <a:ext cx="13796710" cy="6861756"/>
            <a:chOff x="-1604709" y="-3756"/>
            <a:chExt cx="13796710" cy="6861756"/>
          </a:xfrm>
        </p:grpSpPr>
        <p:grpSp>
          <p:nvGrpSpPr>
            <p:cNvPr id="8" name="Group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a:extLst>
              <a:ext uri="{FF2B5EF4-FFF2-40B4-BE49-F238E27FC236}">
                <a16:creationId xmlns:a16="http://schemas.microsoft.com/office/drawing/2014/main"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smtClean="0"/>
              <a:t>Click to edit Master subtitle style</a:t>
            </a:r>
            <a:endParaRPr lang="en-US" noProof="0"/>
          </a:p>
        </p:txBody>
      </p:sp>
    </p:spTree>
    <p:extLst>
      <p:ext uri="{BB962C8B-B14F-4D97-AF65-F5344CB8AC3E}">
        <p14:creationId xmlns:p14="http://schemas.microsoft.com/office/powerpoint/2010/main" val="43695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a:extLst>
              <a:ext uri="{FF2B5EF4-FFF2-40B4-BE49-F238E27FC236}">
                <a16:creationId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a:extLst>
              <a:ext uri="{FF2B5EF4-FFF2-40B4-BE49-F238E27FC236}">
                <a16:creationId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a:extLst>
              <a:ext uri="{FF2B5EF4-FFF2-40B4-BE49-F238E27FC236}">
                <a16:creationId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a:extLst>
              <a:ext uri="{FF2B5EF4-FFF2-40B4-BE49-F238E27FC236}">
                <a16:creationId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smtClean="0"/>
              <a:t>Edit Master text styles</a:t>
            </a:r>
          </a:p>
        </p:txBody>
      </p:sp>
      <p:sp>
        <p:nvSpPr>
          <p:cNvPr id="22" name="Slide Number Placeholder 4">
            <a:extLst>
              <a:ext uri="{FF2B5EF4-FFF2-40B4-BE49-F238E27FC236}">
                <a16:creationId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3" name="Title 1">
            <a:extLst>
              <a:ext uri="{FF2B5EF4-FFF2-40B4-BE49-F238E27FC236}">
                <a16:creationId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extLst>
      <p:ext uri="{BB962C8B-B14F-4D97-AF65-F5344CB8AC3E}">
        <p14:creationId xmlns:p14="http://schemas.microsoft.com/office/powerpoint/2010/main" val="16751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6" name="Group 25">
            <a:extLst>
              <a:ext uri="{FF2B5EF4-FFF2-40B4-BE49-F238E27FC236}">
                <a16:creationId xmlns:a16="http://schemas.microsoft.com/office/drawing/2014/main" id="{E9318B2B-E019-4078-9EF0-C9D6281AE31B}"/>
              </a:ext>
            </a:extLst>
          </p:cNvPr>
          <p:cNvGrpSpPr/>
          <p:nvPr userDrawn="1"/>
        </p:nvGrpSpPr>
        <p:grpSpPr>
          <a:xfrm>
            <a:off x="9776075" y="2057401"/>
            <a:ext cx="4413559" cy="3934444"/>
            <a:chOff x="9222437" y="1088097"/>
            <a:chExt cx="5433318" cy="4843502"/>
          </a:xfrm>
        </p:grpSpPr>
        <p:sp>
          <p:nvSpPr>
            <p:cNvPr id="27" name="Freeform: Shape 26">
              <a:extLst>
                <a:ext uri="{FF2B5EF4-FFF2-40B4-BE49-F238E27FC236}">
                  <a16:creationId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Shape 27">
              <a:extLst>
                <a:ext uri="{FF2B5EF4-FFF2-40B4-BE49-F238E27FC236}">
                  <a16:creationId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29" name="Freeform: Shape 28">
            <a:extLst>
              <a:ext uri="{FF2B5EF4-FFF2-40B4-BE49-F238E27FC236}">
                <a16:creationId xmlns:a16="http://schemas.microsoft.com/office/drawing/2014/main"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31" name="Group 30">
            <a:extLst>
              <a:ext uri="{FF2B5EF4-FFF2-40B4-BE49-F238E27FC236}">
                <a16:creationId xmlns:a16="http://schemas.microsoft.com/office/drawing/2014/main" id="{EAB002AA-4848-49C8-A834-036F860C79A3}"/>
              </a:ext>
            </a:extLst>
          </p:cNvPr>
          <p:cNvGrpSpPr/>
          <p:nvPr userDrawn="1"/>
        </p:nvGrpSpPr>
        <p:grpSpPr>
          <a:xfrm rot="16200000" flipH="1">
            <a:off x="9913705" y="6257994"/>
            <a:ext cx="1052473" cy="1209445"/>
            <a:chOff x="10800165" y="7142066"/>
            <a:chExt cx="2775293" cy="3189215"/>
          </a:xfrm>
        </p:grpSpPr>
        <p:sp>
          <p:nvSpPr>
            <p:cNvPr id="32" name="Freeform: Shape 31">
              <a:extLst>
                <a:ext uri="{FF2B5EF4-FFF2-40B4-BE49-F238E27FC236}">
                  <a16:creationId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a:extLst>
                <a:ext uri="{FF2B5EF4-FFF2-40B4-BE49-F238E27FC236}">
                  <a16:creationId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smtClean="0"/>
              <a:t>Edit Master text styles</a:t>
            </a:r>
          </a:p>
        </p:txBody>
      </p:sp>
      <p:sp>
        <p:nvSpPr>
          <p:cNvPr id="35" name="Slide Number Placeholder 4">
            <a:extLst>
              <a:ext uri="{FF2B5EF4-FFF2-40B4-BE49-F238E27FC236}">
                <a16:creationId xmlns:a16="http://schemas.microsoft.com/office/drawing/2014/main" id="{6F73F836-940E-4B65-A29C-D0869263C935}"/>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3511478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a:extLst>
              <a:ext uri="{FF2B5EF4-FFF2-40B4-BE49-F238E27FC236}">
                <a16:creationId xmlns:a16="http://schemas.microsoft.com/office/drawing/2014/main"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a:extLst>
              <a:ext uri="{FF2B5EF4-FFF2-40B4-BE49-F238E27FC236}">
                <a16:creationId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175316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a:extLst>
              <a:ext uri="{FF2B5EF4-FFF2-40B4-BE49-F238E27FC236}">
                <a16:creationId xmlns:a16="http://schemas.microsoft.com/office/drawing/2014/main" id="{03618670-D1E4-466C-BDB5-FC890AC31457}"/>
              </a:ext>
            </a:extLst>
          </p:cNvPr>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a:p>
            <a:pPr lvl="1"/>
            <a:r>
              <a:rPr lang="en-US" noProof="0" smtClean="0"/>
              <a:t>Second level</a:t>
            </a:r>
          </a:p>
          <a:p>
            <a:pPr lvl="2"/>
            <a:r>
              <a:rPr lang="en-US" noProof="0" smtClean="0"/>
              <a:t>Third level</a:t>
            </a:r>
          </a:p>
        </p:txBody>
      </p:sp>
    </p:spTree>
    <p:extLst>
      <p:ext uri="{BB962C8B-B14F-4D97-AF65-F5344CB8AC3E}">
        <p14:creationId xmlns:p14="http://schemas.microsoft.com/office/powerpoint/2010/main" val="27457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07370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7" name="Text Placeholder 6">
            <a:extLst>
              <a:ext uri="{FF2B5EF4-FFF2-40B4-BE49-F238E27FC236}">
                <a16:creationId xmlns:a16="http://schemas.microsoft.com/office/drawing/2014/main" id="{7E0C167E-2626-40DB-AACF-D02543E29BB3}"/>
              </a:ext>
            </a:extLst>
          </p:cNvPr>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smtClean="0"/>
              <a:t>Edit Master text styles</a:t>
            </a:r>
          </a:p>
        </p:txBody>
      </p:sp>
    </p:spTree>
    <p:extLst>
      <p:ext uri="{BB962C8B-B14F-4D97-AF65-F5344CB8AC3E}">
        <p14:creationId xmlns:p14="http://schemas.microsoft.com/office/powerpoint/2010/main" val="290474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Tree>
    <p:extLst>
      <p:ext uri="{BB962C8B-B14F-4D97-AF65-F5344CB8AC3E}">
        <p14:creationId xmlns:p14="http://schemas.microsoft.com/office/powerpoint/2010/main" val="263670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5" name="Text Placeholder 2">
            <a:extLst>
              <a:ext uri="{FF2B5EF4-FFF2-40B4-BE49-F238E27FC236}">
                <a16:creationId xmlns:a16="http://schemas.microsoft.com/office/drawing/2014/main" id="{7FA80A70-18DE-4DB9-9982-BA75BE54CF93}"/>
              </a:ext>
            </a:extLst>
          </p:cNvPr>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Edit Master text styles</a:t>
            </a:r>
          </a:p>
        </p:txBody>
      </p:sp>
      <p:sp>
        <p:nvSpPr>
          <p:cNvPr id="26" name="Text Placeholder 4">
            <a:extLst>
              <a:ext uri="{FF2B5EF4-FFF2-40B4-BE49-F238E27FC236}">
                <a16:creationId xmlns:a16="http://schemas.microsoft.com/office/drawing/2014/main" id="{2801C0EF-C078-44B0-AD01-4850E9A65EE0}"/>
              </a:ext>
            </a:extLst>
          </p:cNvPr>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Edit Master text styles</a:t>
            </a:r>
          </a:p>
        </p:txBody>
      </p:sp>
      <p:sp>
        <p:nvSpPr>
          <p:cNvPr id="27" name="Content Placeholder 3">
            <a:extLst>
              <a:ext uri="{FF2B5EF4-FFF2-40B4-BE49-F238E27FC236}">
                <a16:creationId xmlns:a16="http://schemas.microsoft.com/office/drawing/2014/main" id="{7C9DED91-45F6-4308-A085-1EFACA6468CF}"/>
              </a:ext>
            </a:extLst>
          </p:cNvPr>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28" name="Content Placeholder 5">
            <a:extLst>
              <a:ext uri="{FF2B5EF4-FFF2-40B4-BE49-F238E27FC236}">
                <a16:creationId xmlns:a16="http://schemas.microsoft.com/office/drawing/2014/main" id="{0574B5E7-B666-439B-9278-67BE1EA6EBC5}"/>
              </a:ext>
            </a:extLst>
          </p:cNvPr>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Tree>
    <p:extLst>
      <p:ext uri="{BB962C8B-B14F-4D97-AF65-F5344CB8AC3E}">
        <p14:creationId xmlns:p14="http://schemas.microsoft.com/office/powerpoint/2010/main" val="3219167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FE796BFF-6E5F-4DE7-B193-F501FC094D63}"/>
              </a:ext>
            </a:extLst>
          </p:cNvPr>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21" name="Content Placeholder 3">
            <a:extLst>
              <a:ext uri="{FF2B5EF4-FFF2-40B4-BE49-F238E27FC236}">
                <a16:creationId xmlns:a16="http://schemas.microsoft.com/office/drawing/2014/main" id="{78622754-CA4D-4C27-A37F-B26E7B4C9CA2}"/>
              </a:ext>
            </a:extLst>
          </p:cNvPr>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Tree>
    <p:extLst>
      <p:ext uri="{BB962C8B-B14F-4D97-AF65-F5344CB8AC3E}">
        <p14:creationId xmlns:p14="http://schemas.microsoft.com/office/powerpoint/2010/main" val="999597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ategor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a:extLst>
              <a:ext uri="{FF2B5EF4-FFF2-40B4-BE49-F238E27FC236}">
                <a16:creationId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smtClean="0"/>
              <a:t>Click icon to add picture</a:t>
            </a:r>
            <a:endParaRPr lang="en-US" noProof="0" dirty="0"/>
          </a:p>
        </p:txBody>
      </p:sp>
      <p:sp>
        <p:nvSpPr>
          <p:cNvPr id="21" name="Picture Placeholder 8">
            <a:extLst>
              <a:ext uri="{FF2B5EF4-FFF2-40B4-BE49-F238E27FC236}">
                <a16:creationId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smtClean="0"/>
              <a:t>Click icon to add picture</a:t>
            </a:r>
            <a:endParaRPr lang="en-US" noProof="0" dirty="0"/>
          </a:p>
        </p:txBody>
      </p:sp>
      <p:sp>
        <p:nvSpPr>
          <p:cNvPr id="22" name="Picture Placeholder 8">
            <a:extLst>
              <a:ext uri="{FF2B5EF4-FFF2-40B4-BE49-F238E27FC236}">
                <a16:creationId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smtClean="0"/>
              <a:t>Click icon to add picture</a:t>
            </a:r>
            <a:endParaRPr lang="en-US" noProof="0" dirty="0"/>
          </a:p>
        </p:txBody>
      </p:sp>
      <p:sp>
        <p:nvSpPr>
          <p:cNvPr id="23" name="Picture Placeholder 8">
            <a:extLst>
              <a:ext uri="{FF2B5EF4-FFF2-40B4-BE49-F238E27FC236}">
                <a16:creationId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smtClean="0"/>
              <a:t>Click icon to add picture</a:t>
            </a:r>
            <a:endParaRPr lang="en-US" noProof="0" dirty="0"/>
          </a:p>
        </p:txBody>
      </p:sp>
      <p:sp>
        <p:nvSpPr>
          <p:cNvPr id="24" name="Picture Placeholder 8">
            <a:extLst>
              <a:ext uri="{FF2B5EF4-FFF2-40B4-BE49-F238E27FC236}">
                <a16:creationId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smtClean="0"/>
              <a:t>Click icon to add picture</a:t>
            </a:r>
            <a:endParaRPr lang="en-US" noProof="0" dirty="0"/>
          </a:p>
        </p:txBody>
      </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p:txBody>
      </p:sp>
      <p:sp>
        <p:nvSpPr>
          <p:cNvPr id="27" name="Text Placeholder 22">
            <a:extLst>
              <a:ext uri="{FF2B5EF4-FFF2-40B4-BE49-F238E27FC236}">
                <a16:creationId xmlns:a16="http://schemas.microsoft.com/office/drawing/2014/main" id="{05F72315-51A9-431C-B80A-45E4FB1D6BD6}"/>
              </a:ext>
            </a:extLst>
          </p:cNvPr>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p:txBody>
      </p:sp>
      <p:sp>
        <p:nvSpPr>
          <p:cNvPr id="28" name="Text Placeholder 22">
            <a:extLst>
              <a:ext uri="{FF2B5EF4-FFF2-40B4-BE49-F238E27FC236}">
                <a16:creationId xmlns:a16="http://schemas.microsoft.com/office/drawing/2014/main" id="{883D1F0C-34F1-46E1-B178-E4AB82B14631}"/>
              </a:ext>
            </a:extLst>
          </p:cNvPr>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p:txBody>
      </p:sp>
      <p:sp>
        <p:nvSpPr>
          <p:cNvPr id="29" name="Text Placeholder 22">
            <a:extLst>
              <a:ext uri="{FF2B5EF4-FFF2-40B4-BE49-F238E27FC236}">
                <a16:creationId xmlns:a16="http://schemas.microsoft.com/office/drawing/2014/main" id="{7202A849-DF14-40E7-B38D-1185F72603EC}"/>
              </a:ext>
            </a:extLst>
          </p:cNvPr>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p:txBody>
      </p:sp>
      <p:sp>
        <p:nvSpPr>
          <p:cNvPr id="30" name="Text Placeholder 22">
            <a:extLst>
              <a:ext uri="{FF2B5EF4-FFF2-40B4-BE49-F238E27FC236}">
                <a16:creationId xmlns:a16="http://schemas.microsoft.com/office/drawing/2014/main" id="{CCFC1ADF-AC11-4CCD-AC2D-478B6FFEA5EA}"/>
              </a:ext>
            </a:extLst>
          </p:cNvPr>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p:txBody>
      </p:sp>
      <p:cxnSp>
        <p:nvCxnSpPr>
          <p:cNvPr id="7" name="Straight Connector 6">
            <a:extLst>
              <a:ext uri="{FF2B5EF4-FFF2-40B4-BE49-F238E27FC236}">
                <a16:creationId xmlns:a16="http://schemas.microsoft.com/office/drawing/2014/main"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76266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 3 Sec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36" name="Text Placeholder 22">
            <a:extLst>
              <a:ext uri="{FF2B5EF4-FFF2-40B4-BE49-F238E27FC236}">
                <a16:creationId xmlns:a16="http://schemas.microsoft.com/office/drawing/2014/main" id="{642D3CE0-C3B4-4F3F-A650-AB452B3AD4BA}"/>
              </a:ext>
            </a:extLst>
          </p:cNvPr>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p:txBody>
      </p:sp>
      <p:sp>
        <p:nvSpPr>
          <p:cNvPr id="37" name="Text Placeholder 22">
            <a:extLst>
              <a:ext uri="{FF2B5EF4-FFF2-40B4-BE49-F238E27FC236}">
                <a16:creationId xmlns:a16="http://schemas.microsoft.com/office/drawing/2014/main" id="{DBED2BB0-CDAD-40EE-8B35-C66DF45EE29D}"/>
              </a:ext>
            </a:extLst>
          </p:cNvPr>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p:txBody>
      </p:sp>
    </p:spTree>
    <p:extLst>
      <p:ext uri="{BB962C8B-B14F-4D97-AF65-F5344CB8AC3E}">
        <p14:creationId xmlns:p14="http://schemas.microsoft.com/office/powerpoint/2010/main" val="1544745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extLst>
      <p:ext uri="{BB962C8B-B14F-4D97-AF65-F5344CB8AC3E}">
        <p14:creationId xmlns:p14="http://schemas.microsoft.com/office/powerpoint/2010/main" val="2486826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Picture Placeholder 2">
            <a:extLst>
              <a:ext uri="{FF2B5EF4-FFF2-40B4-BE49-F238E27FC236}">
                <a16:creationId xmlns:a16="http://schemas.microsoft.com/office/drawing/2014/main" id="{30B3A574-7940-4E35-857E-5CA35A5910E5}"/>
              </a:ext>
            </a:extLst>
          </p:cNvPr>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smtClean="0"/>
              <a:t>Click icon to add picture</a:t>
            </a:r>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spTree>
    <p:extLst>
      <p:ext uri="{BB962C8B-B14F-4D97-AF65-F5344CB8AC3E}">
        <p14:creationId xmlns:p14="http://schemas.microsoft.com/office/powerpoint/2010/main" val="1540650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sp>
        <p:nvSpPr>
          <p:cNvPr id="22" name="Content Placeholder 2">
            <a:extLst>
              <a:ext uri="{FF2B5EF4-FFF2-40B4-BE49-F238E27FC236}">
                <a16:creationId xmlns:a16="http://schemas.microsoft.com/office/drawing/2014/main" id="{A015C605-1D30-48BC-A0D6-3B11AF56CC53}"/>
              </a:ext>
            </a:extLst>
          </p:cNvPr>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Tree>
    <p:extLst>
      <p:ext uri="{BB962C8B-B14F-4D97-AF65-F5344CB8AC3E}">
        <p14:creationId xmlns:p14="http://schemas.microsoft.com/office/powerpoint/2010/main" val="1212989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a:extLst>
              <a:ext uri="{FF2B5EF4-FFF2-40B4-BE49-F238E27FC236}">
                <a16:creationId xmlns:a16="http://schemas.microsoft.com/office/drawing/2014/main"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a:extLst>
              <a:ext uri="{FF2B5EF4-FFF2-40B4-BE49-F238E27FC236}">
                <a16:creationId xmlns:a16="http://schemas.microsoft.com/office/drawing/2014/main"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a:extLst>
              <a:ext uri="{FF2B5EF4-FFF2-40B4-BE49-F238E27FC236}">
                <a16:creationId xmlns:a16="http://schemas.microsoft.com/office/drawing/2014/main"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a:extLst>
              <a:ext uri="{FF2B5EF4-FFF2-40B4-BE49-F238E27FC236}">
                <a16:creationId xmlns:a16="http://schemas.microsoft.com/office/drawing/2014/main"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id="{4AC87F4E-12B5-1B42-AFD2-4DB39B7645C9}"/>
              </a:ext>
            </a:extLst>
          </p:cNvPr>
          <p:cNvGrpSpPr/>
          <p:nvPr userDrawn="1"/>
        </p:nvGrpSpPr>
        <p:grpSpPr>
          <a:xfrm rot="16200000">
            <a:off x="499388" y="-322655"/>
            <a:ext cx="535531" cy="645309"/>
            <a:chOff x="10945855" y="7317026"/>
            <a:chExt cx="2483924" cy="2993104"/>
          </a:xfrm>
        </p:grpSpPr>
        <p:sp>
          <p:nvSpPr>
            <p:cNvPr id="25" name="Freeform: Shape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a:extLst>
              <a:ext uri="{FF2B5EF4-FFF2-40B4-BE49-F238E27FC236}">
                <a16:creationId xmlns:a16="http://schemas.microsoft.com/office/drawing/2014/main"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a:extLst>
              <a:ext uri="{FF2B5EF4-FFF2-40B4-BE49-F238E27FC236}">
                <a16:creationId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2672304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a:extLst>
              <a:ext uri="{FF2B5EF4-FFF2-40B4-BE49-F238E27FC236}">
                <a16:creationId xmlns:a16="http://schemas.microsoft.com/office/drawing/2014/main" id="{EA7FF9D7-8545-4547-AC77-A0421EEB9B99}"/>
              </a:ext>
            </a:extLst>
          </p:cNvPr>
          <p:cNvGrpSpPr/>
          <p:nvPr userDrawn="1"/>
        </p:nvGrpSpPr>
        <p:grpSpPr>
          <a:xfrm>
            <a:off x="0" y="0"/>
            <a:ext cx="6881966" cy="6858876"/>
            <a:chOff x="-5321" y="1096"/>
            <a:chExt cx="5924073" cy="5904197"/>
          </a:xfrm>
        </p:grpSpPr>
        <p:sp>
          <p:nvSpPr>
            <p:cNvPr id="17" name="Right Triangle 16">
              <a:extLst>
                <a:ext uri="{FF2B5EF4-FFF2-40B4-BE49-F238E27FC236}">
                  <a16:creationId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extLst>
      <p:ext uri="{BB962C8B-B14F-4D97-AF65-F5344CB8AC3E}">
        <p14:creationId xmlns:p14="http://schemas.microsoft.com/office/powerpoint/2010/main" val="2236386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a:extLst>
              <a:ext uri="{FF2B5EF4-FFF2-40B4-BE49-F238E27FC236}">
                <a16:creationId xmlns:a16="http://schemas.microsoft.com/office/drawing/2014/main"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a:extLst>
              <a:ext uri="{FF2B5EF4-FFF2-40B4-BE49-F238E27FC236}">
                <a16:creationId xmlns:a16="http://schemas.microsoft.com/office/drawing/2014/main"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121851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smtClean="0"/>
              <a:t>Click to edit Master title style</a:t>
            </a:r>
            <a:endParaRPr lang="en-US" noProof="0"/>
          </a:p>
        </p:txBody>
      </p:sp>
      <p:sp>
        <p:nvSpPr>
          <p:cNvPr id="3" name="Text Placeholder 2">
            <a:extLst>
              <a:ext uri="{FF2B5EF4-FFF2-40B4-BE49-F238E27FC236}">
                <a16:creationId xmlns:a16="http://schemas.microsoft.com/office/drawing/2014/main"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Slide Number Placeholder 5">
            <a:extLst>
              <a:ext uri="{FF2B5EF4-FFF2-40B4-BE49-F238E27FC236}">
                <a16:creationId xmlns:a16="http://schemas.microsoft.com/office/drawing/2014/main"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t>‹#›</a:t>
            </a:fld>
            <a:endParaRPr lang="en-US" noProof="0" dirty="0"/>
          </a:p>
        </p:txBody>
      </p:sp>
      <p:sp>
        <p:nvSpPr>
          <p:cNvPr id="5" name="Rectangle 4">
            <a:extLst>
              <a:ext uri="{FF2B5EF4-FFF2-40B4-BE49-F238E27FC236}">
                <a16:creationId xmlns:a16="http://schemas.microsoft.com/office/drawing/2014/main"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9">
            <a:extLst>
              <a:ext uri="{FF2B5EF4-FFF2-40B4-BE49-F238E27FC236}">
                <a16:creationId xmlns:a16="http://schemas.microsoft.com/office/drawing/2014/main"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7">
            <a:extLst>
              <a:ext uri="{FF2B5EF4-FFF2-40B4-BE49-F238E27FC236}">
                <a16:creationId xmlns:a16="http://schemas.microsoft.com/office/drawing/2014/main"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1">
            <a:extLst>
              <a:ext uri="{FF2B5EF4-FFF2-40B4-BE49-F238E27FC236}">
                <a16:creationId xmlns:a16="http://schemas.microsoft.com/office/drawing/2014/main"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7">
            <a:extLst>
              <a:ext uri="{FF2B5EF4-FFF2-40B4-BE49-F238E27FC236}">
                <a16:creationId xmlns:a16="http://schemas.microsoft.com/office/drawing/2014/main"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a:extLst>
              <a:ext uri="{FF2B5EF4-FFF2-40B4-BE49-F238E27FC236}">
                <a16:creationId xmlns:a16="http://schemas.microsoft.com/office/drawing/2014/main"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2" name="Group 11">
            <a:extLst>
              <a:ext uri="{FF2B5EF4-FFF2-40B4-BE49-F238E27FC236}">
                <a16:creationId xmlns:a16="http://schemas.microsoft.com/office/drawing/2014/main" id="{7068FCE4-1B47-3C4B-B091-013120A97D09}"/>
              </a:ext>
            </a:extLst>
          </p:cNvPr>
          <p:cNvGrpSpPr/>
          <p:nvPr userDrawn="1"/>
        </p:nvGrpSpPr>
        <p:grpSpPr>
          <a:xfrm rot="16200000">
            <a:off x="499388" y="-322655"/>
            <a:ext cx="535531" cy="645309"/>
            <a:chOff x="10945855" y="7317026"/>
            <a:chExt cx="2483924" cy="2993104"/>
          </a:xfrm>
        </p:grpSpPr>
        <p:sp>
          <p:nvSpPr>
            <p:cNvPr id="13" name="Freeform: Shape 15">
              <a:extLst>
                <a:ext uri="{FF2B5EF4-FFF2-40B4-BE49-F238E27FC236}">
                  <a16:creationId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6">
              <a:extLst>
                <a:ext uri="{FF2B5EF4-FFF2-40B4-BE49-F238E27FC236}">
                  <a16:creationId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a:extLst>
              <a:ext uri="{FF2B5EF4-FFF2-40B4-BE49-F238E27FC236}">
                <a16:creationId xmlns:a16="http://schemas.microsoft.com/office/drawing/2014/main" id="{BE1E08A0-195D-694F-947B-986A76FBB93E}"/>
              </a:ext>
            </a:extLst>
          </p:cNvPr>
          <p:cNvGrpSpPr/>
          <p:nvPr userDrawn="1"/>
        </p:nvGrpSpPr>
        <p:grpSpPr>
          <a:xfrm>
            <a:off x="-1" y="1357409"/>
            <a:ext cx="12192001" cy="4846320"/>
            <a:chOff x="-1" y="1357409"/>
            <a:chExt cx="12192001" cy="4917518"/>
          </a:xfrm>
        </p:grpSpPr>
        <p:sp>
          <p:nvSpPr>
            <p:cNvPr id="16" name="Rectangle: Single Corner Snipped 18">
              <a:extLst>
                <a:ext uri="{FF2B5EF4-FFF2-40B4-BE49-F238E27FC236}">
                  <a16:creationId xmlns:a16="http://schemas.microsoft.com/office/drawing/2014/main"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7" name="Rectangle: Single Corner Snipped 2">
              <a:extLst>
                <a:ext uri="{FF2B5EF4-FFF2-40B4-BE49-F238E27FC236}">
                  <a16:creationId xmlns:a16="http://schemas.microsoft.com/office/drawing/2014/main"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23">
            <a:extLst>
              <a:ext uri="{FF2B5EF4-FFF2-40B4-BE49-F238E27FC236}">
                <a16:creationId xmlns:a16="http://schemas.microsoft.com/office/drawing/2014/main"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Slide Number Placeholder 4">
            <a:extLst>
              <a:ext uri="{FF2B5EF4-FFF2-40B4-BE49-F238E27FC236}">
                <a16:creationId xmlns:a16="http://schemas.microsoft.com/office/drawing/2014/main" id="{7D9BF857-7910-734D-A217-5E3344220AA2}"/>
              </a:ext>
            </a:extLst>
          </p:cNvPr>
          <p:cNvSpPr txBox="1">
            <a:spLocks/>
          </p:cNvSpPr>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66609333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6" r:id="rId4"/>
    <p:sldLayoutId id="2147483654" r:id="rId5"/>
    <p:sldLayoutId id="2147483661" r:id="rId6"/>
    <p:sldLayoutId id="2147483677" r:id="rId7"/>
    <p:sldLayoutId id="2147483674" r:id="rId8"/>
    <p:sldLayoutId id="2147483665" r:id="rId9"/>
    <p:sldLayoutId id="2147483673" r:id="rId10"/>
    <p:sldLayoutId id="2147483662" r:id="rId11"/>
    <p:sldLayoutId id="2147483663" r:id="rId12"/>
    <p:sldLayoutId id="2147483664" r:id="rId13"/>
    <p:sldLayoutId id="2147483675" r:id="rId14"/>
    <p:sldLayoutId id="2147483676" r:id="rId15"/>
    <p:sldLayoutId id="2147483672" r:id="rId16"/>
    <p:sldLayoutId id="2147483667" r:id="rId17"/>
    <p:sldLayoutId id="2147483668"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3.jfif"/><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a:xfrm>
            <a:off x="2369602" y="1619795"/>
            <a:ext cx="7636546" cy="3409406"/>
          </a:xfrm>
        </p:spPr>
        <p:txBody>
          <a:bodyPr/>
          <a:lstStyle/>
          <a:p>
            <a:r>
              <a:rPr lang="en-US" sz="4800" dirty="0"/>
              <a:t>SỰ PHÁT TRIỂN WEB 3.0 LÊN WEB 4.0 </a:t>
            </a:r>
            <a:r>
              <a:rPr lang="en-US" sz="4800" dirty="0" smtClean="0"/>
              <a:t/>
            </a:r>
            <a:br>
              <a:rPr lang="en-US" sz="4800" dirty="0" smtClean="0"/>
            </a:br>
            <a:r>
              <a:rPr lang="en-US" sz="4800" dirty="0" smtClean="0"/>
              <a:t>VÀ </a:t>
            </a:r>
            <a:r>
              <a:rPr lang="en-US" sz="4800" dirty="0"/>
              <a:t>MỘT SỐ ỨNG DỤNG TẠI VIỆT NAM</a:t>
            </a:r>
          </a:p>
        </p:txBody>
      </p:sp>
      <p:sp>
        <p:nvSpPr>
          <p:cNvPr id="4" name="Text Placeholder 4">
            <a:extLst>
              <a:ext uri="{FF2B5EF4-FFF2-40B4-BE49-F238E27FC236}">
                <a16:creationId xmlns:a16="http://schemas.microsoft.com/office/drawing/2014/main" id="{0A95F4DE-39B7-4CE2-BC1E-8B8AE662A895}"/>
              </a:ext>
            </a:extLst>
          </p:cNvPr>
          <p:cNvSpPr txBox="1">
            <a:spLocks/>
          </p:cNvSpPr>
          <p:nvPr/>
        </p:nvSpPr>
        <p:spPr>
          <a:xfrm>
            <a:off x="4946650" y="5447212"/>
            <a:ext cx="6803136" cy="36576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Clr>
                <a:schemeClr val="accent2"/>
              </a:buClr>
              <a:buFont typeface="Arial" panose="020B0604020202020204" pitchFamily="34" charset="0"/>
              <a:buNone/>
              <a:defRPr lang="en-GB" sz="1800" kern="1200" spc="300" dirty="0">
                <a:solidFill>
                  <a:schemeClr val="bg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err="1" smtClean="0"/>
              <a:t>Trình</a:t>
            </a:r>
            <a:r>
              <a:rPr lang="en-US" dirty="0" smtClean="0"/>
              <a:t> </a:t>
            </a:r>
            <a:r>
              <a:rPr lang="en-US" dirty="0" err="1" smtClean="0"/>
              <a:t>bày</a:t>
            </a:r>
            <a:r>
              <a:rPr lang="en-US" dirty="0" smtClean="0"/>
              <a:t>: </a:t>
            </a:r>
            <a:r>
              <a:rPr lang="en-US" dirty="0" err="1" smtClean="0"/>
              <a:t>Ths</a:t>
            </a:r>
            <a:r>
              <a:rPr lang="en-US" dirty="0" smtClean="0"/>
              <a:t>. </a:t>
            </a:r>
            <a:r>
              <a:rPr lang="en-US" dirty="0" err="1" smtClean="0"/>
              <a:t>Phạm</a:t>
            </a:r>
            <a:r>
              <a:rPr lang="en-US" dirty="0" smtClean="0"/>
              <a:t> </a:t>
            </a:r>
            <a:r>
              <a:rPr lang="en-US" dirty="0" err="1" smtClean="0"/>
              <a:t>Thị</a:t>
            </a:r>
            <a:r>
              <a:rPr lang="en-US" dirty="0" smtClean="0"/>
              <a:t> Lan </a:t>
            </a:r>
            <a:r>
              <a:rPr lang="en-US" dirty="0" err="1" smtClean="0"/>
              <a:t>Anh</a:t>
            </a:r>
            <a:r>
              <a:rPr lang="en-US" dirty="0" smtClean="0"/>
              <a:t> – BM KHMT</a:t>
            </a:r>
          </a:p>
        </p:txBody>
      </p:sp>
    </p:spTree>
    <p:extLst>
      <p:ext uri="{BB962C8B-B14F-4D97-AF65-F5344CB8AC3E}">
        <p14:creationId xmlns:p14="http://schemas.microsoft.com/office/powerpoint/2010/main" val="3946934594"/>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3BD8413-C238-49D7-A4E1-E8FEF1811A0E}"/>
              </a:ext>
            </a:extLst>
          </p:cNvPr>
          <p:cNvSpPr>
            <a:spLocks noGrp="1"/>
          </p:cNvSpPr>
          <p:nvPr>
            <p:ph type="title"/>
          </p:nvPr>
        </p:nvSpPr>
        <p:spPr>
          <a:xfrm>
            <a:off x="832104" y="3213464"/>
            <a:ext cx="7781544" cy="1531792"/>
          </a:xfrm>
        </p:spPr>
        <p:txBody>
          <a:bodyPr>
            <a:normAutofit fontScale="90000"/>
          </a:bodyPr>
          <a:lstStyle/>
          <a:p>
            <a:r>
              <a:rPr lang="en-US" dirty="0"/>
              <a:t>SỰ PHÁT TRIỂN WEB 3.0 LÊN WEB 4.0</a:t>
            </a:r>
          </a:p>
        </p:txBody>
      </p:sp>
      <p:sp>
        <p:nvSpPr>
          <p:cNvPr id="5" name="Text Placeholder 4">
            <a:extLst>
              <a:ext uri="{FF2B5EF4-FFF2-40B4-BE49-F238E27FC236}">
                <a16:creationId xmlns:a16="http://schemas.microsoft.com/office/drawing/2014/main" id="{0A95F4DE-39B7-4CE2-BC1E-8B8AE662A895}"/>
              </a:ext>
            </a:extLst>
          </p:cNvPr>
          <p:cNvSpPr>
            <a:spLocks noGrp="1"/>
          </p:cNvSpPr>
          <p:nvPr>
            <p:ph type="body" idx="1"/>
          </p:nvPr>
        </p:nvSpPr>
        <p:spPr/>
        <p:txBody>
          <a:bodyPr/>
          <a:lstStyle/>
          <a:p>
            <a:r>
              <a:rPr lang="en-US" dirty="0"/>
              <a:t>Subtitle</a:t>
            </a:r>
          </a:p>
        </p:txBody>
      </p:sp>
      <p:sp>
        <p:nvSpPr>
          <p:cNvPr id="2" name="Slide Number Placeholder 1">
            <a:extLst>
              <a:ext uri="{FF2B5EF4-FFF2-40B4-BE49-F238E27FC236}">
                <a16:creationId xmlns:a16="http://schemas.microsoft.com/office/drawing/2014/main" id="{0B24BF10-2B55-43AB-9F77-F1A1410384A9}"/>
              </a:ext>
            </a:extLst>
          </p:cNvPr>
          <p:cNvSpPr>
            <a:spLocks noGrp="1"/>
          </p:cNvSpPr>
          <p:nvPr>
            <p:ph type="sldNum" sz="quarter" idx="12"/>
          </p:nvPr>
        </p:nvSpPr>
        <p:spPr/>
        <p:txBody>
          <a:bodyPr/>
          <a:lstStyle/>
          <a:p>
            <a:fld id="{C263D6C4-4840-40CC-AC84-17E24B3B7BDE}" type="slidenum">
              <a:rPr lang="en-US" smtClean="0"/>
              <a:pPr/>
              <a:t>2</a:t>
            </a:fld>
            <a:endParaRPr lang="en-US" dirty="0"/>
          </a:p>
        </p:txBody>
      </p:sp>
    </p:spTree>
    <p:extLst>
      <p:ext uri="{BB962C8B-B14F-4D97-AF65-F5344CB8AC3E}">
        <p14:creationId xmlns:p14="http://schemas.microsoft.com/office/powerpoint/2010/main" val="2902794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p:txBody>
          <a:bodyPr/>
          <a:lstStyle/>
          <a:p>
            <a:r>
              <a:rPr lang="en-US" dirty="0" err="1" smtClean="0"/>
              <a:t>Giới</a:t>
            </a:r>
            <a:r>
              <a:rPr lang="en-US" dirty="0" smtClean="0"/>
              <a:t> </a:t>
            </a:r>
            <a:r>
              <a:rPr lang="en-US" dirty="0" err="1" smtClean="0"/>
              <a:t>thiệu</a:t>
            </a:r>
            <a:r>
              <a:rPr lang="en-US" dirty="0" smtClean="0"/>
              <a:t> Web 4.0</a:t>
            </a:r>
            <a:endParaRPr lang="en-US" dirty="0"/>
          </a:p>
        </p:txBody>
      </p:sp>
      <p:sp>
        <p:nvSpPr>
          <p:cNvPr id="10" name="Text Placeholder 9">
            <a:extLst>
              <a:ext uri="{FF2B5EF4-FFF2-40B4-BE49-F238E27FC236}">
                <a16:creationId xmlns:a16="http://schemas.microsoft.com/office/drawing/2014/main" id="{EF2BC084-E6DB-4DE7-B309-042A85EBA700}"/>
              </a:ext>
            </a:extLst>
          </p:cNvPr>
          <p:cNvSpPr>
            <a:spLocks noGrp="1"/>
          </p:cNvSpPr>
          <p:nvPr>
            <p:ph type="body" sz="quarter" idx="13"/>
          </p:nvPr>
        </p:nvSpPr>
        <p:spPr/>
        <p:txBody>
          <a:bodyPr/>
          <a:lstStyle/>
          <a:p>
            <a:pPr algn="just"/>
            <a:r>
              <a:rPr lang="en-US" i="1" dirty="0"/>
              <a:t>Web 4.0</a:t>
            </a:r>
            <a:r>
              <a:rPr lang="en-US" dirty="0"/>
              <a:t> </a:t>
            </a:r>
            <a:r>
              <a:rPr lang="en-US" dirty="0" err="1"/>
              <a:t>là</a:t>
            </a:r>
            <a:r>
              <a:rPr lang="en-US" dirty="0"/>
              <a:t> </a:t>
            </a:r>
            <a:r>
              <a:rPr lang="en-US" dirty="0" err="1"/>
              <a:t>thế</a:t>
            </a:r>
            <a:r>
              <a:rPr lang="en-US" dirty="0"/>
              <a:t> </a:t>
            </a:r>
            <a:r>
              <a:rPr lang="en-US" dirty="0" err="1"/>
              <a:t>hệ</a:t>
            </a:r>
            <a:r>
              <a:rPr lang="en-US" dirty="0"/>
              <a:t> </a:t>
            </a:r>
            <a:r>
              <a:rPr lang="en-US" dirty="0" err="1"/>
              <a:t>thứ</a:t>
            </a:r>
            <a:r>
              <a:rPr lang="en-US" dirty="0"/>
              <a:t> </a:t>
            </a:r>
            <a:r>
              <a:rPr lang="en-US" dirty="0" err="1"/>
              <a:t>tư</a:t>
            </a:r>
            <a:r>
              <a:rPr lang="en-US" dirty="0"/>
              <a:t> </a:t>
            </a:r>
            <a:r>
              <a:rPr lang="en-US" dirty="0" err="1"/>
              <a:t>của</a:t>
            </a:r>
            <a:r>
              <a:rPr lang="en-US" dirty="0"/>
              <a:t> </a:t>
            </a:r>
            <a:r>
              <a:rPr lang="en-US" i="1" dirty="0"/>
              <a:t>World Wide Web (WWW).</a:t>
            </a:r>
            <a:r>
              <a:rPr lang="en-US" dirty="0"/>
              <a:t> </a:t>
            </a:r>
            <a:r>
              <a:rPr lang="en-US" i="1" dirty="0"/>
              <a:t>Web 4.0</a:t>
            </a:r>
            <a:r>
              <a:rPr lang="en-US" dirty="0"/>
              <a:t> </a:t>
            </a:r>
            <a:r>
              <a:rPr lang="en-US" dirty="0" err="1"/>
              <a:t>đang</a:t>
            </a:r>
            <a:r>
              <a:rPr lang="en-US" dirty="0"/>
              <a:t> </a:t>
            </a:r>
            <a:r>
              <a:rPr lang="en-US" dirty="0" err="1"/>
              <a:t>trong</a:t>
            </a:r>
            <a:r>
              <a:rPr lang="en-US" dirty="0"/>
              <a:t> </a:t>
            </a:r>
            <a:r>
              <a:rPr lang="en-US" dirty="0" err="1"/>
              <a:t>giai</a:t>
            </a:r>
            <a:r>
              <a:rPr lang="en-US" dirty="0"/>
              <a:t> </a:t>
            </a:r>
            <a:r>
              <a:rPr lang="en-US" dirty="0" err="1"/>
              <a:t>đoạn</a:t>
            </a:r>
            <a:r>
              <a:rPr lang="en-US" dirty="0"/>
              <a:t> </a:t>
            </a:r>
            <a:r>
              <a:rPr lang="en-US" dirty="0" err="1"/>
              <a:t>đầu</a:t>
            </a:r>
            <a:r>
              <a:rPr lang="en-US" dirty="0"/>
              <a:t> </a:t>
            </a:r>
            <a:r>
              <a:rPr lang="en-US" dirty="0" err="1"/>
              <a:t>hình</a:t>
            </a:r>
            <a:r>
              <a:rPr lang="en-US" dirty="0"/>
              <a:t> </a:t>
            </a:r>
            <a:r>
              <a:rPr lang="en-US" dirty="0" err="1"/>
              <a:t>thành</a:t>
            </a:r>
            <a:r>
              <a:rPr lang="en-US" dirty="0"/>
              <a:t> </a:t>
            </a:r>
            <a:r>
              <a:rPr lang="en-US" dirty="0" err="1"/>
              <a:t>và</a:t>
            </a:r>
            <a:r>
              <a:rPr lang="en-US" dirty="0"/>
              <a:t> </a:t>
            </a:r>
            <a:r>
              <a:rPr lang="en-US" dirty="0" err="1"/>
              <a:t>phát</a:t>
            </a:r>
            <a:r>
              <a:rPr lang="en-US" dirty="0"/>
              <a:t> </a:t>
            </a:r>
            <a:r>
              <a:rPr lang="en-US" dirty="0" err="1" smtClean="0"/>
              <a:t>triển</a:t>
            </a:r>
            <a:endParaRPr lang="en-US" dirty="0" smtClean="0"/>
          </a:p>
          <a:p>
            <a:pPr algn="just"/>
            <a:r>
              <a:rPr lang="en-US" dirty="0"/>
              <a:t>Ý </a:t>
            </a:r>
            <a:r>
              <a:rPr lang="en-US" dirty="0" err="1"/>
              <a:t>tưởng</a:t>
            </a:r>
            <a:r>
              <a:rPr lang="en-US" dirty="0"/>
              <a:t> </a:t>
            </a:r>
            <a:r>
              <a:rPr lang="en-US" dirty="0" err="1"/>
              <a:t>của</a:t>
            </a:r>
            <a:r>
              <a:rPr lang="en-US" dirty="0"/>
              <a:t> </a:t>
            </a:r>
            <a:r>
              <a:rPr lang="en-US" i="1" dirty="0"/>
              <a:t>Web 4.0 </a:t>
            </a:r>
            <a:r>
              <a:rPr lang="en-US" dirty="0" err="1"/>
              <a:t>manh</a:t>
            </a:r>
            <a:r>
              <a:rPr lang="en-US" dirty="0"/>
              <a:t> </a:t>
            </a:r>
            <a:r>
              <a:rPr lang="en-US" dirty="0" err="1"/>
              <a:t>nha</a:t>
            </a:r>
            <a:r>
              <a:rPr lang="en-US" dirty="0"/>
              <a:t> </a:t>
            </a:r>
            <a:r>
              <a:rPr lang="en-US" dirty="0" err="1"/>
              <a:t>hình</a:t>
            </a:r>
            <a:r>
              <a:rPr lang="en-US" dirty="0"/>
              <a:t> </a:t>
            </a:r>
            <a:r>
              <a:rPr lang="en-US" dirty="0" err="1"/>
              <a:t>thành</a:t>
            </a:r>
            <a:r>
              <a:rPr lang="en-US" dirty="0"/>
              <a:t> </a:t>
            </a:r>
            <a:r>
              <a:rPr lang="en-US" dirty="0" err="1"/>
              <a:t>gần</a:t>
            </a:r>
            <a:r>
              <a:rPr lang="en-US" dirty="0"/>
              <a:t> </a:t>
            </a:r>
            <a:r>
              <a:rPr lang="en-US" dirty="0" err="1"/>
              <a:t>như</a:t>
            </a:r>
            <a:r>
              <a:rPr lang="en-US" dirty="0"/>
              <a:t> </a:t>
            </a:r>
            <a:r>
              <a:rPr lang="en-US" dirty="0" err="1"/>
              <a:t>cùng</a:t>
            </a:r>
            <a:r>
              <a:rPr lang="en-US" dirty="0"/>
              <a:t> </a:t>
            </a:r>
            <a:r>
              <a:rPr lang="en-US" dirty="0" err="1"/>
              <a:t>lúc</a:t>
            </a:r>
            <a:r>
              <a:rPr lang="en-US" dirty="0"/>
              <a:t> </a:t>
            </a:r>
            <a:r>
              <a:rPr lang="en-US" dirty="0" err="1"/>
              <a:t>với</a:t>
            </a:r>
            <a:r>
              <a:rPr lang="en-US" dirty="0"/>
              <a:t> </a:t>
            </a:r>
            <a:r>
              <a:rPr lang="en-US" dirty="0" err="1"/>
              <a:t>thời</a:t>
            </a:r>
            <a:r>
              <a:rPr lang="en-US" dirty="0"/>
              <a:t> </a:t>
            </a:r>
            <a:r>
              <a:rPr lang="en-US" dirty="0" err="1"/>
              <a:t>gian</a:t>
            </a:r>
            <a:r>
              <a:rPr lang="en-US" dirty="0"/>
              <a:t> </a:t>
            </a:r>
            <a:r>
              <a:rPr lang="en-US" dirty="0" err="1"/>
              <a:t>nghiên</a:t>
            </a:r>
            <a:r>
              <a:rPr lang="en-US" dirty="0"/>
              <a:t> </a:t>
            </a:r>
            <a:r>
              <a:rPr lang="en-US" dirty="0" err="1"/>
              <a:t>cứu</a:t>
            </a:r>
            <a:r>
              <a:rPr lang="en-US" dirty="0"/>
              <a:t> </a:t>
            </a:r>
            <a:r>
              <a:rPr lang="en-US" dirty="0" err="1"/>
              <a:t>và</a:t>
            </a:r>
            <a:r>
              <a:rPr lang="en-US" dirty="0"/>
              <a:t> </a:t>
            </a:r>
            <a:r>
              <a:rPr lang="en-US" dirty="0" err="1"/>
              <a:t>thử</a:t>
            </a:r>
            <a:r>
              <a:rPr lang="en-US" dirty="0"/>
              <a:t> </a:t>
            </a:r>
            <a:r>
              <a:rPr lang="en-US" dirty="0" err="1"/>
              <a:t>nghiệm</a:t>
            </a:r>
            <a:r>
              <a:rPr lang="en-US" dirty="0"/>
              <a:t> </a:t>
            </a:r>
            <a:r>
              <a:rPr lang="en-US" dirty="0" err="1"/>
              <a:t>các</a:t>
            </a:r>
            <a:r>
              <a:rPr lang="en-US" dirty="0"/>
              <a:t> </a:t>
            </a:r>
            <a:r>
              <a:rPr lang="en-US" dirty="0" err="1"/>
              <a:t>ứng</a:t>
            </a:r>
            <a:r>
              <a:rPr lang="en-US" dirty="0"/>
              <a:t> </a:t>
            </a:r>
            <a:r>
              <a:rPr lang="en-US" dirty="0" err="1"/>
              <a:t>dụng</a:t>
            </a:r>
            <a:r>
              <a:rPr lang="en-US" dirty="0"/>
              <a:t> </a:t>
            </a:r>
            <a:r>
              <a:rPr lang="en-US" i="1" dirty="0"/>
              <a:t>Web 3.0</a:t>
            </a:r>
            <a:r>
              <a:rPr lang="en-US" dirty="0"/>
              <a:t>. </a:t>
            </a:r>
            <a:endParaRPr lang="en-US" dirty="0" smtClean="0"/>
          </a:p>
          <a:p>
            <a:pPr algn="just"/>
            <a:r>
              <a:rPr lang="en-US" dirty="0" err="1"/>
              <a:t>Các</a:t>
            </a:r>
            <a:r>
              <a:rPr lang="en-US" dirty="0"/>
              <a:t> </a:t>
            </a:r>
            <a:r>
              <a:rPr lang="en-US" dirty="0" err="1"/>
              <a:t>nhà</a:t>
            </a:r>
            <a:r>
              <a:rPr lang="en-US" dirty="0"/>
              <a:t> </a:t>
            </a:r>
            <a:r>
              <a:rPr lang="en-US" dirty="0" err="1"/>
              <a:t>nghiên</a:t>
            </a:r>
            <a:r>
              <a:rPr lang="en-US" dirty="0"/>
              <a:t> </a:t>
            </a:r>
            <a:r>
              <a:rPr lang="en-US" dirty="0" err="1"/>
              <a:t>cứu</a:t>
            </a:r>
            <a:r>
              <a:rPr lang="en-US" dirty="0"/>
              <a:t> </a:t>
            </a:r>
            <a:r>
              <a:rPr lang="en-US" dirty="0" err="1"/>
              <a:t>mong</a:t>
            </a:r>
            <a:r>
              <a:rPr lang="en-US" dirty="0"/>
              <a:t> </a:t>
            </a:r>
            <a:r>
              <a:rPr lang="en-US" dirty="0" err="1"/>
              <a:t>muốn</a:t>
            </a:r>
            <a:r>
              <a:rPr lang="en-US" dirty="0"/>
              <a:t> </a:t>
            </a:r>
            <a:r>
              <a:rPr lang="en-US" dirty="0" err="1"/>
              <a:t>thế</a:t>
            </a:r>
            <a:r>
              <a:rPr lang="en-US" dirty="0"/>
              <a:t> </a:t>
            </a:r>
            <a:r>
              <a:rPr lang="en-US" dirty="0" err="1"/>
              <a:t>giới</a:t>
            </a:r>
            <a:r>
              <a:rPr lang="en-US" dirty="0"/>
              <a:t> </a:t>
            </a:r>
            <a:r>
              <a:rPr lang="en-US" dirty="0" err="1"/>
              <a:t>có</a:t>
            </a:r>
            <a:r>
              <a:rPr lang="en-US" dirty="0"/>
              <a:t> </a:t>
            </a:r>
            <a:r>
              <a:rPr lang="en-US" dirty="0" err="1"/>
              <a:t>được</a:t>
            </a:r>
            <a:r>
              <a:rPr lang="en-US" dirty="0"/>
              <a:t> </a:t>
            </a:r>
            <a:r>
              <a:rPr lang="en-US" dirty="0" err="1"/>
              <a:t>một</a:t>
            </a:r>
            <a:r>
              <a:rPr lang="en-US" dirty="0"/>
              <a:t> </a:t>
            </a:r>
            <a:r>
              <a:rPr lang="en-US" dirty="0" err="1"/>
              <a:t>thế</a:t>
            </a:r>
            <a:r>
              <a:rPr lang="en-US" dirty="0"/>
              <a:t> </a:t>
            </a:r>
            <a:r>
              <a:rPr lang="en-US" dirty="0" err="1"/>
              <a:t>hệ</a:t>
            </a:r>
            <a:r>
              <a:rPr lang="en-US" dirty="0"/>
              <a:t> </a:t>
            </a:r>
            <a:r>
              <a:rPr lang="en-US" i="1" dirty="0"/>
              <a:t>Web</a:t>
            </a:r>
            <a:r>
              <a:rPr lang="en-US" dirty="0"/>
              <a:t> </a:t>
            </a:r>
            <a:r>
              <a:rPr lang="en-US" dirty="0" err="1"/>
              <a:t>tiếp</a:t>
            </a:r>
            <a:r>
              <a:rPr lang="en-US" dirty="0"/>
              <a:t> </a:t>
            </a:r>
            <a:r>
              <a:rPr lang="en-US" dirty="0" err="1"/>
              <a:t>theo</a:t>
            </a:r>
            <a:r>
              <a:rPr lang="en-US" dirty="0"/>
              <a:t> </a:t>
            </a:r>
            <a:r>
              <a:rPr lang="en-US" dirty="0" err="1"/>
              <a:t>không</a:t>
            </a:r>
            <a:r>
              <a:rPr lang="en-US" dirty="0"/>
              <a:t> </a:t>
            </a:r>
            <a:r>
              <a:rPr lang="en-US" dirty="0" err="1"/>
              <a:t>chỉ</a:t>
            </a:r>
            <a:r>
              <a:rPr lang="en-US" dirty="0"/>
              <a:t> </a:t>
            </a:r>
            <a:r>
              <a:rPr lang="en-US" dirty="0" err="1"/>
              <a:t>trở</a:t>
            </a:r>
            <a:r>
              <a:rPr lang="en-US" dirty="0"/>
              <a:t> </a:t>
            </a:r>
            <a:r>
              <a:rPr lang="en-US" dirty="0" err="1"/>
              <a:t>thành</a:t>
            </a:r>
            <a:r>
              <a:rPr lang="en-US" dirty="0"/>
              <a:t> </a:t>
            </a:r>
            <a:r>
              <a:rPr lang="en-US" dirty="0" err="1"/>
              <a:t>một</a:t>
            </a:r>
            <a:r>
              <a:rPr lang="en-US" dirty="0"/>
              <a:t> </a:t>
            </a:r>
            <a:r>
              <a:rPr lang="en-US" dirty="0" err="1"/>
              <a:t>trợ</a:t>
            </a:r>
            <a:r>
              <a:rPr lang="en-US" dirty="0"/>
              <a:t> </a:t>
            </a:r>
            <a:r>
              <a:rPr lang="en-US" dirty="0" err="1"/>
              <a:t>lý</a:t>
            </a:r>
            <a:r>
              <a:rPr lang="en-US" dirty="0"/>
              <a:t> </a:t>
            </a:r>
            <a:r>
              <a:rPr lang="en-US" dirty="0" err="1"/>
              <a:t>kỹ</a:t>
            </a:r>
            <a:r>
              <a:rPr lang="en-US" dirty="0"/>
              <a:t> </a:t>
            </a:r>
            <a:r>
              <a:rPr lang="en-US" dirty="0" err="1"/>
              <a:t>thuật</a:t>
            </a:r>
            <a:r>
              <a:rPr lang="en-US" dirty="0"/>
              <a:t> </a:t>
            </a:r>
            <a:r>
              <a:rPr lang="en-US" dirty="0" err="1"/>
              <a:t>số</a:t>
            </a:r>
            <a:r>
              <a:rPr lang="en-US" dirty="0"/>
              <a:t> </a:t>
            </a:r>
            <a:r>
              <a:rPr lang="en-US" dirty="0" err="1"/>
              <a:t>như</a:t>
            </a:r>
            <a:r>
              <a:rPr lang="en-US" dirty="0"/>
              <a:t> </a:t>
            </a:r>
            <a:r>
              <a:rPr lang="en-US" dirty="0" err="1"/>
              <a:t>đã</a:t>
            </a:r>
            <a:r>
              <a:rPr lang="en-US" dirty="0"/>
              <a:t> </a:t>
            </a:r>
            <a:r>
              <a:rPr lang="en-US" dirty="0" err="1"/>
              <a:t>có</a:t>
            </a:r>
            <a:r>
              <a:rPr lang="en-US" dirty="0"/>
              <a:t> ở </a:t>
            </a:r>
            <a:r>
              <a:rPr lang="en-US" i="1" dirty="0"/>
              <a:t>Web 3.0 </a:t>
            </a:r>
            <a:r>
              <a:rPr lang="en-US" dirty="0" err="1"/>
              <a:t>mà</a:t>
            </a:r>
            <a:r>
              <a:rPr lang="en-US" dirty="0"/>
              <a:t> </a:t>
            </a:r>
            <a:r>
              <a:rPr lang="en-US" dirty="0" err="1"/>
              <a:t>còn</a:t>
            </a:r>
            <a:r>
              <a:rPr lang="en-US" dirty="0"/>
              <a:t> </a:t>
            </a:r>
            <a:r>
              <a:rPr lang="en-US" dirty="0" err="1"/>
              <a:t>kết</a:t>
            </a:r>
            <a:r>
              <a:rPr lang="en-US" dirty="0"/>
              <a:t> </a:t>
            </a:r>
            <a:r>
              <a:rPr lang="en-US" dirty="0" err="1"/>
              <a:t>nối</a:t>
            </a:r>
            <a:r>
              <a:rPr lang="en-US" dirty="0"/>
              <a:t> con </a:t>
            </a:r>
            <a:r>
              <a:rPr lang="en-US" dirty="0" err="1"/>
              <a:t>người</a:t>
            </a:r>
            <a:r>
              <a:rPr lang="en-US" dirty="0"/>
              <a:t> </a:t>
            </a:r>
            <a:r>
              <a:rPr lang="en-US" dirty="0" err="1"/>
              <a:t>với</a:t>
            </a:r>
            <a:r>
              <a:rPr lang="en-US" dirty="0"/>
              <a:t> </a:t>
            </a:r>
            <a:r>
              <a:rPr lang="en-US" dirty="0" err="1"/>
              <a:t>các</a:t>
            </a:r>
            <a:r>
              <a:rPr lang="en-US" dirty="0"/>
              <a:t> </a:t>
            </a:r>
            <a:r>
              <a:rPr lang="en-US" dirty="0" err="1"/>
              <a:t>thiết</a:t>
            </a:r>
            <a:r>
              <a:rPr lang="en-US" dirty="0"/>
              <a:t> </a:t>
            </a:r>
            <a:r>
              <a:rPr lang="en-US" dirty="0" err="1"/>
              <a:t>bị</a:t>
            </a:r>
            <a:r>
              <a:rPr lang="en-US" dirty="0"/>
              <a:t> </a:t>
            </a:r>
            <a:r>
              <a:rPr lang="en-US" dirty="0" err="1"/>
              <a:t>xử</a:t>
            </a:r>
            <a:r>
              <a:rPr lang="en-US" dirty="0"/>
              <a:t> </a:t>
            </a:r>
            <a:r>
              <a:rPr lang="en-US" dirty="0" err="1"/>
              <a:t>lý</a:t>
            </a:r>
            <a:r>
              <a:rPr lang="en-US" dirty="0"/>
              <a:t> </a:t>
            </a:r>
            <a:r>
              <a:rPr lang="en-US" dirty="0" err="1"/>
              <a:t>thông</a:t>
            </a:r>
            <a:r>
              <a:rPr lang="en-US" dirty="0"/>
              <a:t> tin </a:t>
            </a:r>
            <a:r>
              <a:rPr lang="en-US" dirty="0" err="1"/>
              <a:t>một</a:t>
            </a:r>
            <a:r>
              <a:rPr lang="en-US" dirty="0"/>
              <a:t> </a:t>
            </a:r>
            <a:r>
              <a:rPr lang="en-US" dirty="0" err="1"/>
              <a:t>cách</a:t>
            </a:r>
            <a:r>
              <a:rPr lang="en-US" dirty="0"/>
              <a:t> </a:t>
            </a:r>
            <a:r>
              <a:rPr lang="en-US" dirty="0" err="1"/>
              <a:t>chặt</a:t>
            </a:r>
            <a:r>
              <a:rPr lang="en-US" dirty="0"/>
              <a:t> </a:t>
            </a:r>
            <a:r>
              <a:rPr lang="en-US" dirty="0" err="1"/>
              <a:t>chẽ</a:t>
            </a:r>
            <a:r>
              <a:rPr lang="en-US" dirty="0"/>
              <a:t>, </a:t>
            </a:r>
            <a:r>
              <a:rPr lang="en-US" dirty="0" err="1"/>
              <a:t>xóa</a:t>
            </a:r>
            <a:r>
              <a:rPr lang="en-US" dirty="0"/>
              <a:t> </a:t>
            </a:r>
            <a:r>
              <a:rPr lang="en-US" dirty="0" err="1"/>
              <a:t>mờ</a:t>
            </a:r>
            <a:r>
              <a:rPr lang="en-US" dirty="0"/>
              <a:t> </a:t>
            </a:r>
            <a:r>
              <a:rPr lang="en-US" dirty="0" err="1"/>
              <a:t>khoảng</a:t>
            </a:r>
            <a:r>
              <a:rPr lang="en-US" dirty="0"/>
              <a:t> </a:t>
            </a:r>
            <a:r>
              <a:rPr lang="en-US" dirty="0" err="1"/>
              <a:t>cách</a:t>
            </a:r>
            <a:r>
              <a:rPr lang="en-US" dirty="0"/>
              <a:t> </a:t>
            </a:r>
            <a:r>
              <a:rPr lang="en-US" dirty="0" err="1"/>
              <a:t>giữa</a:t>
            </a:r>
            <a:r>
              <a:rPr lang="en-US" dirty="0"/>
              <a:t> </a:t>
            </a:r>
            <a:r>
              <a:rPr lang="en-US" dirty="0" err="1"/>
              <a:t>người</a:t>
            </a:r>
            <a:r>
              <a:rPr lang="en-US" dirty="0"/>
              <a:t> </a:t>
            </a:r>
            <a:r>
              <a:rPr lang="en-US" dirty="0" err="1"/>
              <a:t>và</a:t>
            </a:r>
            <a:r>
              <a:rPr lang="en-US" dirty="0"/>
              <a:t> </a:t>
            </a:r>
            <a:r>
              <a:rPr lang="en-US" dirty="0" err="1"/>
              <a:t>máy</a:t>
            </a:r>
            <a:r>
              <a:rPr lang="en-US" dirty="0"/>
              <a:t>, </a:t>
            </a:r>
            <a:r>
              <a:rPr lang="en-US" dirty="0" err="1"/>
              <a:t>biến</a:t>
            </a:r>
            <a:r>
              <a:rPr lang="en-US" dirty="0"/>
              <a:t> </a:t>
            </a:r>
            <a:r>
              <a:rPr lang="en-US" dirty="0" err="1"/>
              <a:t>thế</a:t>
            </a:r>
            <a:r>
              <a:rPr lang="en-US" dirty="0"/>
              <a:t> </a:t>
            </a:r>
            <a:r>
              <a:rPr lang="en-US" dirty="0" err="1"/>
              <a:t>giới</a:t>
            </a:r>
            <a:r>
              <a:rPr lang="en-US" dirty="0"/>
              <a:t> </a:t>
            </a:r>
            <a:r>
              <a:rPr lang="en-US" dirty="0" err="1"/>
              <a:t>số</a:t>
            </a:r>
            <a:r>
              <a:rPr lang="en-US" dirty="0"/>
              <a:t> </a:t>
            </a:r>
            <a:r>
              <a:rPr lang="en-US" dirty="0" err="1"/>
              <a:t>chân</a:t>
            </a:r>
            <a:r>
              <a:rPr lang="en-US" dirty="0"/>
              <a:t> </a:t>
            </a:r>
            <a:r>
              <a:rPr lang="en-US" dirty="0" err="1"/>
              <a:t>thực</a:t>
            </a:r>
            <a:r>
              <a:rPr lang="en-US" dirty="0"/>
              <a:t> </a:t>
            </a:r>
            <a:r>
              <a:rPr lang="en-US" dirty="0" err="1"/>
              <a:t>như</a:t>
            </a:r>
            <a:r>
              <a:rPr lang="en-US" dirty="0"/>
              <a:t> </a:t>
            </a:r>
            <a:r>
              <a:rPr lang="en-US" dirty="0" err="1"/>
              <a:t>chính</a:t>
            </a:r>
            <a:r>
              <a:rPr lang="en-US" dirty="0"/>
              <a:t> </a:t>
            </a:r>
            <a:r>
              <a:rPr lang="en-US" dirty="0" err="1"/>
              <a:t>thế</a:t>
            </a:r>
            <a:r>
              <a:rPr lang="en-US" dirty="0"/>
              <a:t> </a:t>
            </a:r>
            <a:r>
              <a:rPr lang="en-US" dirty="0" err="1"/>
              <a:t>giới</a:t>
            </a:r>
            <a:r>
              <a:rPr lang="en-US" dirty="0"/>
              <a:t> </a:t>
            </a:r>
            <a:r>
              <a:rPr lang="en-US" dirty="0" err="1"/>
              <a:t>thực</a:t>
            </a:r>
            <a:r>
              <a:rPr lang="en-US" dirty="0"/>
              <a:t> </a:t>
            </a:r>
            <a:r>
              <a:rPr lang="en-US" dirty="0" err="1" smtClean="0"/>
              <a:t>này</a:t>
            </a:r>
            <a:r>
              <a:rPr lang="en-US" dirty="0" smtClean="0"/>
              <a:t>.</a:t>
            </a:r>
            <a:r>
              <a:rPr lang="en-US" dirty="0"/>
              <a:t> </a:t>
            </a:r>
            <a:r>
              <a:rPr lang="en-US" dirty="0" err="1"/>
              <a:t>Vì</a:t>
            </a:r>
            <a:r>
              <a:rPr lang="en-US" dirty="0"/>
              <a:t> </a:t>
            </a:r>
            <a:r>
              <a:rPr lang="en-US" dirty="0" err="1"/>
              <a:t>vậy</a:t>
            </a:r>
            <a:r>
              <a:rPr lang="en-US" dirty="0"/>
              <a:t>, </a:t>
            </a:r>
            <a:r>
              <a:rPr lang="en-US" i="1" dirty="0"/>
              <a:t>Web 4.0 </a:t>
            </a:r>
            <a:r>
              <a:rPr lang="en-US" dirty="0" err="1"/>
              <a:t>còn</a:t>
            </a:r>
            <a:r>
              <a:rPr lang="en-US" dirty="0"/>
              <a:t> </a:t>
            </a:r>
            <a:r>
              <a:rPr lang="en-US" dirty="0" err="1"/>
              <a:t>được</a:t>
            </a:r>
            <a:r>
              <a:rPr lang="en-US" dirty="0"/>
              <a:t> </a:t>
            </a:r>
            <a:r>
              <a:rPr lang="en-US" dirty="0" err="1"/>
              <a:t>gọi</a:t>
            </a:r>
            <a:r>
              <a:rPr lang="en-US" dirty="0"/>
              <a:t> </a:t>
            </a:r>
            <a:r>
              <a:rPr lang="en-US" dirty="0" err="1"/>
              <a:t>là</a:t>
            </a:r>
            <a:r>
              <a:rPr lang="en-US" i="1" dirty="0"/>
              <a:t> Web</a:t>
            </a:r>
            <a:r>
              <a:rPr lang="en-US" dirty="0"/>
              <a:t> </a:t>
            </a:r>
            <a:r>
              <a:rPr lang="en-US" dirty="0" err="1"/>
              <a:t>cộng</a:t>
            </a:r>
            <a:r>
              <a:rPr lang="en-US" dirty="0"/>
              <a:t> </a:t>
            </a:r>
            <a:r>
              <a:rPr lang="en-US" dirty="0" err="1"/>
              <a:t>sinh</a:t>
            </a:r>
            <a:endParaRPr lang="en-US" dirty="0" smtClean="0"/>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3</a:t>
            </a:fld>
            <a:endParaRPr lang="en-US" dirty="0"/>
          </a:p>
        </p:txBody>
      </p:sp>
    </p:spTree>
    <p:extLst>
      <p:ext uri="{BB962C8B-B14F-4D97-AF65-F5344CB8AC3E}">
        <p14:creationId xmlns:p14="http://schemas.microsoft.com/office/powerpoint/2010/main" val="3733486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p:txBody>
          <a:bodyPr/>
          <a:lstStyle/>
          <a:p>
            <a:r>
              <a:rPr lang="en-US" dirty="0" err="1" smtClean="0"/>
              <a:t>Giới</a:t>
            </a:r>
            <a:r>
              <a:rPr lang="en-US" dirty="0" smtClean="0"/>
              <a:t> </a:t>
            </a:r>
            <a:r>
              <a:rPr lang="en-US" dirty="0" err="1" smtClean="0"/>
              <a:t>thiệu</a:t>
            </a:r>
            <a:r>
              <a:rPr lang="en-US" dirty="0" smtClean="0"/>
              <a:t> Web 4.0</a:t>
            </a:r>
            <a:endParaRPr lang="en-US" dirty="0"/>
          </a:p>
        </p:txBody>
      </p:sp>
      <p:sp>
        <p:nvSpPr>
          <p:cNvPr id="10" name="Text Placeholder 9">
            <a:extLst>
              <a:ext uri="{FF2B5EF4-FFF2-40B4-BE49-F238E27FC236}">
                <a16:creationId xmlns:a16="http://schemas.microsoft.com/office/drawing/2014/main" id="{EF2BC084-E6DB-4DE7-B309-042A85EBA700}"/>
              </a:ext>
            </a:extLst>
          </p:cNvPr>
          <p:cNvSpPr>
            <a:spLocks noGrp="1"/>
          </p:cNvSpPr>
          <p:nvPr>
            <p:ph type="body" sz="quarter" idx="13"/>
          </p:nvPr>
        </p:nvSpPr>
        <p:spPr/>
        <p:txBody>
          <a:bodyPr/>
          <a:lstStyle/>
          <a:p>
            <a:endParaRPr lang="en-US" dirty="0"/>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4</a:t>
            </a:fld>
            <a:endParaRPr lang="en-US" dirty="0"/>
          </a:p>
        </p:txBody>
      </p:sp>
      <p:pic>
        <p:nvPicPr>
          <p:cNvPr id="5" name="Picture 4" descr="Sự phát triển của website và Internet"/>
          <p:cNvPicPr/>
          <p:nvPr/>
        </p:nvPicPr>
        <p:blipFill rotWithShape="1">
          <a:blip r:embed="rId2">
            <a:extLst>
              <a:ext uri="{28A0092B-C50C-407E-A947-70E740481C1C}">
                <a14:useLocalDpi xmlns:a14="http://schemas.microsoft.com/office/drawing/2010/main" val="0"/>
              </a:ext>
            </a:extLst>
          </a:blip>
          <a:srcRect l="2577" t="5516" r="2226" b="6271"/>
          <a:stretch/>
        </p:blipFill>
        <p:spPr bwMode="auto">
          <a:xfrm>
            <a:off x="541428" y="1194310"/>
            <a:ext cx="11006138" cy="5324055"/>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263265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p:txBody>
          <a:bodyPr/>
          <a:lstStyle/>
          <a:p>
            <a:r>
              <a:rPr lang="en-US" dirty="0" smtClean="0"/>
              <a:t>So </a:t>
            </a:r>
            <a:r>
              <a:rPr lang="en-US" dirty="0" err="1" smtClean="0"/>
              <a:t>sánh</a:t>
            </a:r>
            <a:r>
              <a:rPr lang="en-US" dirty="0" smtClean="0"/>
              <a:t> Web 4.0 </a:t>
            </a:r>
            <a:r>
              <a:rPr lang="en-US" dirty="0" err="1" smtClean="0"/>
              <a:t>và</a:t>
            </a:r>
            <a:r>
              <a:rPr lang="en-US" dirty="0" smtClean="0"/>
              <a:t> </a:t>
            </a:r>
            <a:r>
              <a:rPr lang="en-US" dirty="0" err="1" smtClean="0"/>
              <a:t>các</a:t>
            </a:r>
            <a:r>
              <a:rPr lang="en-US" dirty="0" smtClean="0"/>
              <a:t> </a:t>
            </a:r>
            <a:r>
              <a:rPr lang="en-US" dirty="0" err="1" smtClean="0"/>
              <a:t>thế</a:t>
            </a:r>
            <a:r>
              <a:rPr lang="en-US" dirty="0" smtClean="0"/>
              <a:t> </a:t>
            </a:r>
            <a:r>
              <a:rPr lang="en-US" dirty="0" err="1" smtClean="0"/>
              <a:t>hệ</a:t>
            </a:r>
            <a:r>
              <a:rPr lang="en-US" dirty="0" smtClean="0"/>
              <a:t> Web </a:t>
            </a:r>
            <a:r>
              <a:rPr lang="en-US" dirty="0" err="1" smtClean="0"/>
              <a:t>trước</a:t>
            </a:r>
            <a:r>
              <a:rPr lang="en-US" dirty="0" smtClean="0"/>
              <a:t> </a:t>
            </a:r>
            <a:r>
              <a:rPr lang="en-US" dirty="0" err="1" smtClean="0"/>
              <a:t>đó</a:t>
            </a:r>
            <a:endParaRPr lang="en-US" dirty="0"/>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5</a:t>
            </a:fld>
            <a:endParaRPr lang="en-US" dirty="0"/>
          </a:p>
        </p:txBody>
      </p:sp>
      <p:graphicFrame>
        <p:nvGraphicFramePr>
          <p:cNvPr id="3" name="Table 2"/>
          <p:cNvGraphicFramePr>
            <a:graphicFrameLocks noGrp="1"/>
          </p:cNvGraphicFramePr>
          <p:nvPr>
            <p:extLst>
              <p:ext uri="{D42A27DB-BD31-4B8C-83A1-F6EECF244321}">
                <p14:modId xmlns:p14="http://schemas.microsoft.com/office/powerpoint/2010/main" val="2226537756"/>
              </p:ext>
            </p:extLst>
          </p:nvPr>
        </p:nvGraphicFramePr>
        <p:xfrm>
          <a:off x="4166689" y="1327159"/>
          <a:ext cx="7237184" cy="4689691"/>
        </p:xfrm>
        <a:graphic>
          <a:graphicData uri="http://schemas.openxmlformats.org/drawingml/2006/table">
            <a:tbl>
              <a:tblPr firstRow="1" firstCol="1" bandRow="1">
                <a:tableStyleId>{5C22544A-7EE6-4342-B048-85BDC9FD1C3A}</a:tableStyleId>
              </a:tblPr>
              <a:tblGrid>
                <a:gridCol w="792957">
                  <a:extLst>
                    <a:ext uri="{9D8B030D-6E8A-4147-A177-3AD203B41FA5}">
                      <a16:colId xmlns:a16="http://schemas.microsoft.com/office/drawing/2014/main" val="235140301"/>
                    </a:ext>
                  </a:extLst>
                </a:gridCol>
                <a:gridCol w="826997">
                  <a:extLst>
                    <a:ext uri="{9D8B030D-6E8A-4147-A177-3AD203B41FA5}">
                      <a16:colId xmlns:a16="http://schemas.microsoft.com/office/drawing/2014/main" val="147295638"/>
                    </a:ext>
                  </a:extLst>
                </a:gridCol>
                <a:gridCol w="1021947">
                  <a:extLst>
                    <a:ext uri="{9D8B030D-6E8A-4147-A177-3AD203B41FA5}">
                      <a16:colId xmlns:a16="http://schemas.microsoft.com/office/drawing/2014/main" val="3390931352"/>
                    </a:ext>
                  </a:extLst>
                </a:gridCol>
                <a:gridCol w="1044382">
                  <a:extLst>
                    <a:ext uri="{9D8B030D-6E8A-4147-A177-3AD203B41FA5}">
                      <a16:colId xmlns:a16="http://schemas.microsoft.com/office/drawing/2014/main" val="616117503"/>
                    </a:ext>
                  </a:extLst>
                </a:gridCol>
                <a:gridCol w="1183633">
                  <a:extLst>
                    <a:ext uri="{9D8B030D-6E8A-4147-A177-3AD203B41FA5}">
                      <a16:colId xmlns:a16="http://schemas.microsoft.com/office/drawing/2014/main" val="802686888"/>
                    </a:ext>
                  </a:extLst>
                </a:gridCol>
                <a:gridCol w="1114009">
                  <a:extLst>
                    <a:ext uri="{9D8B030D-6E8A-4147-A177-3AD203B41FA5}">
                      <a16:colId xmlns:a16="http://schemas.microsoft.com/office/drawing/2014/main" val="1549795156"/>
                    </a:ext>
                  </a:extLst>
                </a:gridCol>
                <a:gridCol w="1253259">
                  <a:extLst>
                    <a:ext uri="{9D8B030D-6E8A-4147-A177-3AD203B41FA5}">
                      <a16:colId xmlns:a16="http://schemas.microsoft.com/office/drawing/2014/main" val="1037676187"/>
                    </a:ext>
                  </a:extLst>
                </a:gridCol>
              </a:tblGrid>
              <a:tr h="515132">
                <a:tc>
                  <a:txBody>
                    <a:bodyPr/>
                    <a:lstStyle/>
                    <a:p>
                      <a:pPr algn="ctr">
                        <a:lnSpc>
                          <a:spcPct val="107000"/>
                        </a:lnSpc>
                        <a:spcBef>
                          <a:spcPts val="600"/>
                        </a:spcBef>
                        <a:spcAft>
                          <a:spcPts val="600"/>
                        </a:spcAft>
                      </a:pPr>
                      <a:r>
                        <a:rPr lang="en-US" sz="1000">
                          <a:effectLst/>
                        </a:rPr>
                        <a:t>Các thế hệ Web</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Bef>
                          <a:spcPts val="600"/>
                        </a:spcBef>
                        <a:spcAft>
                          <a:spcPts val="600"/>
                        </a:spcAft>
                      </a:pPr>
                      <a:r>
                        <a:rPr lang="en-US" sz="1000">
                          <a:effectLst/>
                        </a:rPr>
                        <a:t>Mạng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Bef>
                          <a:spcPts val="600"/>
                        </a:spcBef>
                        <a:spcAft>
                          <a:spcPts val="600"/>
                        </a:spcAft>
                      </a:pPr>
                      <a:r>
                        <a:rPr lang="en-US" sz="1000">
                          <a:effectLst/>
                        </a:rPr>
                        <a:t>Nội dung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Bef>
                          <a:spcPts val="600"/>
                        </a:spcBef>
                        <a:spcAft>
                          <a:spcPts val="600"/>
                        </a:spcAft>
                      </a:pPr>
                      <a:r>
                        <a:rPr lang="en-US" sz="1000">
                          <a:effectLst/>
                        </a:rPr>
                        <a:t>Ứng dụng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Bef>
                          <a:spcPts val="600"/>
                        </a:spcBef>
                        <a:spcAft>
                          <a:spcPts val="600"/>
                        </a:spcAft>
                      </a:pPr>
                      <a:r>
                        <a:rPr lang="en-US" sz="1000" dirty="0">
                          <a:effectLst/>
                        </a:rPr>
                        <a:t>Cơ </a:t>
                      </a:r>
                      <a:r>
                        <a:rPr lang="en-US" sz="1000" dirty="0" err="1">
                          <a:effectLst/>
                        </a:rPr>
                        <a:t>sở</a:t>
                      </a:r>
                      <a:r>
                        <a:rPr lang="en-US" sz="1000" dirty="0">
                          <a:effectLst/>
                        </a:rPr>
                        <a:t> </a:t>
                      </a:r>
                      <a:r>
                        <a:rPr lang="en-US" sz="1000" dirty="0" err="1">
                          <a:effectLst/>
                        </a:rPr>
                        <a:t>hạ</a:t>
                      </a:r>
                      <a:r>
                        <a:rPr lang="en-US" sz="1000" dirty="0">
                          <a:effectLst/>
                        </a:rPr>
                        <a:t> </a:t>
                      </a:r>
                      <a:r>
                        <a:rPr lang="en-US" sz="1000" dirty="0" err="1">
                          <a:effectLst/>
                        </a:rPr>
                        <a:t>tầng</a:t>
                      </a:r>
                      <a:r>
                        <a:rPr lang="en-US" sz="1000" dirty="0">
                          <a:effectLst/>
                        </a:rPr>
                        <a:t> </a:t>
                      </a:r>
                      <a:r>
                        <a:rPr lang="en-US" sz="1000" dirty="0" err="1">
                          <a:effectLst/>
                        </a:rPr>
                        <a:t>máy</a:t>
                      </a:r>
                      <a:r>
                        <a:rPr lang="en-US" sz="1000" dirty="0">
                          <a:effectLst/>
                        </a:rPr>
                        <a:t> </a:t>
                      </a:r>
                      <a:r>
                        <a:rPr lang="en-US" sz="1000" dirty="0" err="1">
                          <a:effectLst/>
                        </a:rPr>
                        <a:t>tính</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Bef>
                          <a:spcPts val="600"/>
                        </a:spcBef>
                        <a:spcAft>
                          <a:spcPts val="600"/>
                        </a:spcAft>
                      </a:pPr>
                      <a:r>
                        <a:rPr lang="en-US" sz="1000">
                          <a:effectLst/>
                        </a:rPr>
                        <a:t>Trí thông minh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Bef>
                          <a:spcPts val="600"/>
                        </a:spcBef>
                        <a:spcAft>
                          <a:spcPts val="600"/>
                        </a:spcAft>
                      </a:pPr>
                      <a:r>
                        <a:rPr lang="en-US" sz="1000">
                          <a:effectLst/>
                        </a:rPr>
                        <a:t>Chất lượng dịch vụ (QoS)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68711647"/>
                  </a:ext>
                </a:extLst>
              </a:tr>
              <a:tr h="515132">
                <a:tc>
                  <a:txBody>
                    <a:bodyPr/>
                    <a:lstStyle/>
                    <a:p>
                      <a:pPr algn="ctr">
                        <a:lnSpc>
                          <a:spcPct val="107000"/>
                        </a:lnSpc>
                        <a:spcBef>
                          <a:spcPts val="600"/>
                        </a:spcBef>
                        <a:spcAft>
                          <a:spcPts val="600"/>
                        </a:spcAft>
                      </a:pPr>
                      <a:r>
                        <a:rPr lang="en-US" sz="1000">
                          <a:effectLst/>
                        </a:rPr>
                        <a:t>Web 1.0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Bef>
                          <a:spcPts val="600"/>
                        </a:spcBef>
                        <a:spcAft>
                          <a:spcPts val="600"/>
                        </a:spcAft>
                      </a:pPr>
                      <a:r>
                        <a:rPr lang="en-US" sz="1000" dirty="0">
                          <a:effectLst/>
                        </a:rPr>
                        <a:t>Phi </a:t>
                      </a:r>
                      <a:r>
                        <a:rPr lang="en-US" sz="1000" dirty="0" err="1">
                          <a:effectLst/>
                        </a:rPr>
                        <a:t>tập</a:t>
                      </a:r>
                      <a:r>
                        <a:rPr lang="en-US" sz="1000" dirty="0">
                          <a:effectLst/>
                        </a:rPr>
                        <a:t> </a:t>
                      </a:r>
                      <a:r>
                        <a:rPr lang="en-US" sz="1000" dirty="0" err="1">
                          <a:effectLst/>
                        </a:rPr>
                        <a:t>trung</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Bef>
                          <a:spcPts val="600"/>
                        </a:spcBef>
                        <a:spcAft>
                          <a:spcPts val="600"/>
                        </a:spcAft>
                      </a:pPr>
                      <a:r>
                        <a:rPr lang="en-US" sz="1000">
                          <a:effectLst/>
                        </a:rPr>
                        <a:t>Nội dung tĩnh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Bef>
                          <a:spcPts val="600"/>
                        </a:spcBef>
                        <a:spcAft>
                          <a:spcPts val="600"/>
                        </a:spcAft>
                      </a:pPr>
                      <a:r>
                        <a:rPr lang="en-US" sz="1000">
                          <a:effectLst/>
                        </a:rPr>
                        <a:t>Trang cổng thông tin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Bef>
                          <a:spcPts val="600"/>
                        </a:spcBef>
                        <a:spcAft>
                          <a:spcPts val="600"/>
                        </a:spcAft>
                      </a:pPr>
                      <a:r>
                        <a:rPr lang="en-US" sz="1000">
                          <a:effectLst/>
                        </a:rPr>
                        <a:t>Máy chủ riêng biệt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Bef>
                          <a:spcPts val="600"/>
                        </a:spcBef>
                        <a:spcAft>
                          <a:spcPts val="600"/>
                        </a:spcAft>
                      </a:pPr>
                      <a:r>
                        <a:rPr lang="en-US" sz="1000">
                          <a:effectLst/>
                        </a:rPr>
                        <a:t>Không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Bef>
                          <a:spcPts val="600"/>
                        </a:spcBef>
                        <a:spcAft>
                          <a:spcPts val="600"/>
                        </a:spcAft>
                      </a:pPr>
                      <a:r>
                        <a:rPr lang="en-US" sz="1000">
                          <a:effectLst/>
                        </a:rPr>
                        <a:t>Không có QoS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687567006"/>
                  </a:ext>
                </a:extLst>
              </a:tr>
              <a:tr h="779385">
                <a:tc>
                  <a:txBody>
                    <a:bodyPr/>
                    <a:lstStyle/>
                    <a:p>
                      <a:pPr algn="ctr">
                        <a:lnSpc>
                          <a:spcPct val="107000"/>
                        </a:lnSpc>
                        <a:spcBef>
                          <a:spcPts val="600"/>
                        </a:spcBef>
                        <a:spcAft>
                          <a:spcPts val="600"/>
                        </a:spcAft>
                      </a:pPr>
                      <a:r>
                        <a:rPr lang="en-US" sz="1000">
                          <a:effectLst/>
                        </a:rPr>
                        <a:t>Web 2.0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Bef>
                          <a:spcPts val="600"/>
                        </a:spcBef>
                        <a:spcAft>
                          <a:spcPts val="600"/>
                        </a:spcAft>
                      </a:pPr>
                      <a:r>
                        <a:rPr lang="en-US" sz="1000" dirty="0" err="1">
                          <a:effectLst/>
                        </a:rPr>
                        <a:t>Tập</a:t>
                      </a:r>
                      <a:r>
                        <a:rPr lang="en-US" sz="1000" dirty="0">
                          <a:effectLst/>
                        </a:rPr>
                        <a:t> </a:t>
                      </a:r>
                      <a:r>
                        <a:rPr lang="en-US" sz="1000" dirty="0" err="1">
                          <a:effectLst/>
                        </a:rPr>
                        <a:t>trung</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Bef>
                          <a:spcPts val="600"/>
                        </a:spcBef>
                        <a:spcAft>
                          <a:spcPts val="600"/>
                        </a:spcAft>
                      </a:pPr>
                      <a:r>
                        <a:rPr lang="en-US" sz="1000" dirty="0" err="1">
                          <a:effectLst/>
                        </a:rPr>
                        <a:t>Nội</a:t>
                      </a:r>
                      <a:r>
                        <a:rPr lang="en-US" sz="1000" dirty="0">
                          <a:effectLst/>
                        </a:rPr>
                        <a:t> dung </a:t>
                      </a:r>
                      <a:r>
                        <a:rPr lang="en-US" sz="1000" dirty="0" err="1">
                          <a:effectLst/>
                        </a:rPr>
                        <a:t>tương</a:t>
                      </a:r>
                      <a:r>
                        <a:rPr lang="en-US" sz="1000" dirty="0">
                          <a:effectLst/>
                        </a:rPr>
                        <a:t> </a:t>
                      </a:r>
                      <a:r>
                        <a:rPr lang="en-US" sz="1000" dirty="0" err="1">
                          <a:effectLst/>
                        </a:rPr>
                        <a:t>tác</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Bef>
                          <a:spcPts val="600"/>
                        </a:spcBef>
                        <a:spcAft>
                          <a:spcPts val="600"/>
                        </a:spcAft>
                      </a:pPr>
                      <a:r>
                        <a:rPr lang="en-US" sz="1000" dirty="0" err="1">
                          <a:effectLst/>
                        </a:rPr>
                        <a:t>Công</a:t>
                      </a:r>
                      <a:r>
                        <a:rPr lang="en-US" sz="1000" dirty="0">
                          <a:effectLst/>
                        </a:rPr>
                        <a:t> </a:t>
                      </a:r>
                      <a:r>
                        <a:rPr lang="en-US" sz="1000" dirty="0" err="1">
                          <a:effectLst/>
                        </a:rPr>
                        <a:t>cụ</a:t>
                      </a:r>
                      <a:r>
                        <a:rPr lang="en-US" sz="1000" dirty="0">
                          <a:effectLst/>
                        </a:rPr>
                        <a:t> </a:t>
                      </a:r>
                      <a:r>
                        <a:rPr lang="en-US" sz="1000" dirty="0" err="1">
                          <a:effectLst/>
                        </a:rPr>
                        <a:t>tìm</a:t>
                      </a:r>
                      <a:r>
                        <a:rPr lang="en-US" sz="1000" dirty="0">
                          <a:effectLst/>
                        </a:rPr>
                        <a:t> </a:t>
                      </a:r>
                      <a:r>
                        <a:rPr lang="en-US" sz="1000" dirty="0" err="1">
                          <a:effectLst/>
                        </a:rPr>
                        <a:t>kiếm</a:t>
                      </a:r>
                      <a:r>
                        <a:rPr lang="en-US" sz="1000" dirty="0">
                          <a:effectLst/>
                        </a:rPr>
                        <a:t> </a:t>
                      </a:r>
                      <a:r>
                        <a:rPr lang="en-US" sz="1000" dirty="0" err="1">
                          <a:effectLst/>
                        </a:rPr>
                        <a:t>và</a:t>
                      </a:r>
                      <a:r>
                        <a:rPr lang="en-US" sz="1000" dirty="0">
                          <a:effectLst/>
                        </a:rPr>
                        <a:t> </a:t>
                      </a:r>
                      <a:r>
                        <a:rPr lang="en-US" sz="1000" dirty="0" err="1">
                          <a:effectLst/>
                        </a:rPr>
                        <a:t>Mạng</a:t>
                      </a:r>
                      <a:r>
                        <a:rPr lang="en-US" sz="1000" dirty="0">
                          <a:effectLst/>
                        </a:rPr>
                        <a:t> </a:t>
                      </a:r>
                      <a:r>
                        <a:rPr lang="en-US" sz="1000" dirty="0" err="1">
                          <a:effectLst/>
                        </a:rPr>
                        <a:t>xã</a:t>
                      </a:r>
                      <a:r>
                        <a:rPr lang="en-US" sz="1000" dirty="0">
                          <a:effectLst/>
                        </a:rPr>
                        <a:t> </a:t>
                      </a:r>
                      <a:r>
                        <a:rPr lang="en-US" sz="1000" dirty="0" err="1">
                          <a:effectLst/>
                        </a:rPr>
                        <a:t>hội</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Bef>
                          <a:spcPts val="600"/>
                        </a:spcBef>
                        <a:spcAft>
                          <a:spcPts val="600"/>
                        </a:spcAft>
                      </a:pPr>
                      <a:r>
                        <a:rPr lang="en-US" sz="1000">
                          <a:effectLst/>
                        </a:rPr>
                        <a:t>Điện toán đám mây</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Bef>
                          <a:spcPts val="600"/>
                        </a:spcBef>
                        <a:spcAft>
                          <a:spcPts val="600"/>
                        </a:spcAft>
                      </a:pPr>
                      <a:r>
                        <a:rPr lang="en-US" sz="1000">
                          <a:effectLst/>
                        </a:rPr>
                        <a:t>Không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Bef>
                          <a:spcPts val="600"/>
                        </a:spcBef>
                        <a:spcAft>
                          <a:spcPts val="600"/>
                        </a:spcAft>
                      </a:pPr>
                      <a:r>
                        <a:rPr lang="en-US" sz="1000">
                          <a:effectLst/>
                        </a:rPr>
                        <a:t>QoS giới hạn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185726091"/>
                  </a:ext>
                </a:extLst>
              </a:tr>
              <a:tr h="1043640">
                <a:tc>
                  <a:txBody>
                    <a:bodyPr/>
                    <a:lstStyle/>
                    <a:p>
                      <a:pPr algn="ctr">
                        <a:lnSpc>
                          <a:spcPct val="107000"/>
                        </a:lnSpc>
                        <a:spcBef>
                          <a:spcPts val="600"/>
                        </a:spcBef>
                        <a:spcAft>
                          <a:spcPts val="600"/>
                        </a:spcAft>
                      </a:pPr>
                      <a:r>
                        <a:rPr lang="en-US" sz="1000">
                          <a:effectLst/>
                        </a:rPr>
                        <a:t>Web 3.0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Bef>
                          <a:spcPts val="600"/>
                        </a:spcBef>
                        <a:spcAft>
                          <a:spcPts val="600"/>
                        </a:spcAft>
                      </a:pPr>
                      <a:r>
                        <a:rPr lang="en-US" sz="1000">
                          <a:effectLst/>
                        </a:rPr>
                        <a:t>Phi tập trung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Bef>
                          <a:spcPts val="600"/>
                        </a:spcBef>
                        <a:spcAft>
                          <a:spcPts val="600"/>
                        </a:spcAft>
                      </a:pPr>
                      <a:r>
                        <a:rPr lang="en-US" sz="1000">
                          <a:effectLst/>
                        </a:rPr>
                        <a:t>Nội dung do người dùng cá nhân hóa và sở hữu</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Bef>
                          <a:spcPts val="600"/>
                        </a:spcBef>
                        <a:spcAft>
                          <a:spcPts val="600"/>
                        </a:spcAft>
                      </a:pPr>
                      <a:r>
                        <a:rPr lang="en-US" sz="1000" dirty="0" err="1">
                          <a:effectLst/>
                        </a:rPr>
                        <a:t>Thương</a:t>
                      </a:r>
                      <a:r>
                        <a:rPr lang="en-US" sz="1000" dirty="0">
                          <a:effectLst/>
                        </a:rPr>
                        <a:t> </a:t>
                      </a:r>
                      <a:r>
                        <a:rPr lang="en-US" sz="1000" dirty="0" err="1">
                          <a:effectLst/>
                        </a:rPr>
                        <a:t>mại</a:t>
                      </a:r>
                      <a:r>
                        <a:rPr lang="en-US" sz="1000" dirty="0">
                          <a:effectLst/>
                        </a:rPr>
                        <a:t> </a:t>
                      </a:r>
                      <a:r>
                        <a:rPr lang="en-US" sz="1000" dirty="0" err="1">
                          <a:effectLst/>
                        </a:rPr>
                        <a:t>điện</a:t>
                      </a:r>
                      <a:r>
                        <a:rPr lang="en-US" sz="1000" dirty="0">
                          <a:effectLst/>
                        </a:rPr>
                        <a:t> </a:t>
                      </a:r>
                      <a:r>
                        <a:rPr lang="en-US" sz="1000" dirty="0" err="1">
                          <a:effectLst/>
                        </a:rPr>
                        <a:t>tử</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Bef>
                          <a:spcPts val="600"/>
                        </a:spcBef>
                        <a:spcAft>
                          <a:spcPts val="600"/>
                        </a:spcAft>
                      </a:pPr>
                      <a:r>
                        <a:rPr lang="en-US" sz="1000" dirty="0" err="1">
                          <a:effectLst/>
                        </a:rPr>
                        <a:t>Điện</a:t>
                      </a:r>
                      <a:r>
                        <a:rPr lang="en-US" sz="1000" dirty="0">
                          <a:effectLst/>
                        </a:rPr>
                        <a:t> </a:t>
                      </a:r>
                      <a:r>
                        <a:rPr lang="en-US" sz="1000" dirty="0" err="1">
                          <a:effectLst/>
                        </a:rPr>
                        <a:t>toán</a:t>
                      </a:r>
                      <a:r>
                        <a:rPr lang="en-US" sz="1000" dirty="0">
                          <a:effectLst/>
                        </a:rPr>
                        <a:t> </a:t>
                      </a:r>
                      <a:r>
                        <a:rPr lang="en-US" sz="1000" dirty="0" err="1">
                          <a:effectLst/>
                        </a:rPr>
                        <a:t>đám</a:t>
                      </a:r>
                      <a:r>
                        <a:rPr lang="en-US" sz="1000" dirty="0">
                          <a:effectLst/>
                        </a:rPr>
                        <a:t> </a:t>
                      </a:r>
                      <a:r>
                        <a:rPr lang="en-US" sz="1000" dirty="0" err="1">
                          <a:effectLst/>
                        </a:rPr>
                        <a:t>mây</a:t>
                      </a:r>
                      <a:r>
                        <a:rPr lang="en-US" sz="1000" dirty="0">
                          <a:effectLst/>
                        </a:rPr>
                        <a:t> </a:t>
                      </a:r>
                      <a:r>
                        <a:rPr lang="en-US" sz="1000" dirty="0" err="1">
                          <a:effectLst/>
                        </a:rPr>
                        <a:t>phân</a:t>
                      </a:r>
                      <a:r>
                        <a:rPr lang="en-US" sz="1000" dirty="0">
                          <a:effectLst/>
                        </a:rPr>
                        <a:t> </a:t>
                      </a:r>
                      <a:r>
                        <a:rPr lang="en-US" sz="1000" dirty="0" err="1">
                          <a:effectLst/>
                        </a:rPr>
                        <a:t>tán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Bef>
                          <a:spcPts val="600"/>
                        </a:spcBef>
                        <a:spcAft>
                          <a:spcPts val="600"/>
                        </a:spcAft>
                      </a:pPr>
                      <a:r>
                        <a:rPr lang="en-US" sz="1000">
                          <a:effectLst/>
                        </a:rPr>
                        <a:t>Máy khách – máy chủ AI, mạng cho AI</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Bef>
                          <a:spcPts val="600"/>
                        </a:spcBef>
                        <a:spcAft>
                          <a:spcPts val="600"/>
                        </a:spcAft>
                      </a:pPr>
                      <a:r>
                        <a:rPr lang="en-US" sz="1000" dirty="0" err="1">
                          <a:effectLst/>
                        </a:rPr>
                        <a:t>QoS</a:t>
                      </a:r>
                      <a:r>
                        <a:rPr lang="en-US" sz="1000" dirty="0">
                          <a:effectLst/>
                        </a:rPr>
                        <a:t> </a:t>
                      </a:r>
                      <a:r>
                        <a:rPr lang="en-US" sz="1000" dirty="0" err="1">
                          <a:effectLst/>
                        </a:rPr>
                        <a:t>năng</a:t>
                      </a:r>
                      <a:r>
                        <a:rPr lang="en-US" sz="1000" dirty="0">
                          <a:effectLst/>
                        </a:rPr>
                        <a:t> </a:t>
                      </a:r>
                      <a:r>
                        <a:rPr lang="en-US" sz="1000" dirty="0" err="1">
                          <a:effectLst/>
                        </a:rPr>
                        <a:t>động</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693794187"/>
                  </a:ext>
                </a:extLst>
              </a:tr>
              <a:tr h="1836402">
                <a:tc>
                  <a:txBody>
                    <a:bodyPr/>
                    <a:lstStyle/>
                    <a:p>
                      <a:pPr algn="ctr">
                        <a:lnSpc>
                          <a:spcPct val="107000"/>
                        </a:lnSpc>
                        <a:spcBef>
                          <a:spcPts val="600"/>
                        </a:spcBef>
                        <a:spcAft>
                          <a:spcPts val="600"/>
                        </a:spcAft>
                      </a:pPr>
                      <a:r>
                        <a:rPr lang="en-US" sz="1000">
                          <a:effectLst/>
                        </a:rPr>
                        <a:t>Web 4.0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Bef>
                          <a:spcPts val="600"/>
                        </a:spcBef>
                        <a:spcAft>
                          <a:spcPts val="600"/>
                        </a:spcAft>
                      </a:pPr>
                      <a:r>
                        <a:rPr lang="en-US" sz="1000">
                          <a:effectLst/>
                        </a:rPr>
                        <a:t>Phi tập trung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Bef>
                          <a:spcPts val="600"/>
                        </a:spcBef>
                        <a:spcAft>
                          <a:spcPts val="600"/>
                        </a:spcAft>
                      </a:pPr>
                      <a:r>
                        <a:rPr lang="en-US" sz="1000">
                          <a:effectLst/>
                        </a:rPr>
                        <a:t>Nội dung được cá nhân hóa về nhập vai/ thế giới ảo/ thực tế tăng cường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Bef>
                          <a:spcPts val="600"/>
                        </a:spcBef>
                        <a:spcAft>
                          <a:spcPts val="600"/>
                        </a:spcAft>
                      </a:pPr>
                      <a:r>
                        <a:rPr lang="en-US" sz="1000">
                          <a:effectLst/>
                        </a:rPr>
                        <a:t>GPT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Bef>
                          <a:spcPts val="600"/>
                        </a:spcBef>
                        <a:spcAft>
                          <a:spcPts val="600"/>
                        </a:spcAft>
                      </a:pPr>
                      <a:r>
                        <a:rPr lang="en-US" sz="1000">
                          <a:effectLst/>
                        </a:rPr>
                        <a:t>CFN (Computing Force Network)</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Bef>
                          <a:spcPts val="600"/>
                        </a:spcBef>
                        <a:spcAft>
                          <a:spcPts val="600"/>
                        </a:spcAft>
                      </a:pPr>
                      <a:r>
                        <a:rPr lang="en-US" sz="1000" dirty="0" err="1">
                          <a:effectLst/>
                        </a:rPr>
                        <a:t>Nhận</a:t>
                      </a:r>
                      <a:r>
                        <a:rPr lang="en-US" sz="1000" dirty="0">
                          <a:effectLst/>
                        </a:rPr>
                        <a:t> </a:t>
                      </a:r>
                      <a:r>
                        <a:rPr lang="en-US" sz="1000" dirty="0" err="1">
                          <a:effectLst/>
                        </a:rPr>
                        <a:t>thức</a:t>
                      </a:r>
                      <a:r>
                        <a:rPr lang="en-US" sz="1000" dirty="0">
                          <a:effectLst/>
                        </a:rPr>
                        <a:t> </a:t>
                      </a:r>
                      <a:r>
                        <a:rPr lang="en-US" sz="1000" dirty="0" err="1">
                          <a:effectLst/>
                        </a:rPr>
                        <a:t>ngữ</a:t>
                      </a:r>
                      <a:r>
                        <a:rPr lang="en-US" sz="1000" dirty="0">
                          <a:effectLst/>
                        </a:rPr>
                        <a:t> </a:t>
                      </a:r>
                      <a:r>
                        <a:rPr lang="en-US" sz="1000" dirty="0" err="1">
                          <a:effectLst/>
                        </a:rPr>
                        <a:t>nghĩa</a:t>
                      </a:r>
                      <a:r>
                        <a:rPr lang="en-US" sz="1000" dirty="0">
                          <a:effectLst/>
                        </a:rPr>
                        <a:t>, </a:t>
                      </a:r>
                      <a:r>
                        <a:rPr lang="en-US" sz="1000" dirty="0" err="1">
                          <a:effectLst/>
                        </a:rPr>
                        <a:t>các</a:t>
                      </a:r>
                      <a:r>
                        <a:rPr lang="en-US" sz="1000" dirty="0">
                          <a:effectLst/>
                        </a:rPr>
                        <a:t> </a:t>
                      </a:r>
                      <a:r>
                        <a:rPr lang="en-US" sz="1000" dirty="0" err="1">
                          <a:effectLst/>
                        </a:rPr>
                        <a:t>thực</a:t>
                      </a:r>
                      <a:r>
                        <a:rPr lang="en-US" sz="1000" dirty="0">
                          <a:effectLst/>
                        </a:rPr>
                        <a:t> </a:t>
                      </a:r>
                      <a:r>
                        <a:rPr lang="en-US" sz="1000" dirty="0" err="1">
                          <a:effectLst/>
                        </a:rPr>
                        <a:t>thể</a:t>
                      </a:r>
                      <a:r>
                        <a:rPr lang="en-US" sz="1000" dirty="0">
                          <a:effectLst/>
                        </a:rPr>
                        <a:t> AI </a:t>
                      </a:r>
                      <a:r>
                        <a:rPr lang="en-US" sz="1000" dirty="0" err="1">
                          <a:effectLst/>
                        </a:rPr>
                        <a:t>cho</a:t>
                      </a:r>
                      <a:r>
                        <a:rPr lang="en-US" sz="1000" dirty="0">
                          <a:effectLst/>
                        </a:rPr>
                        <a:t> </a:t>
                      </a:r>
                      <a:r>
                        <a:rPr lang="en-US" sz="1000" dirty="0" err="1">
                          <a:effectLst/>
                        </a:rPr>
                        <a:t>mạng</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Bef>
                          <a:spcPts val="600"/>
                        </a:spcBef>
                        <a:spcAft>
                          <a:spcPts val="600"/>
                        </a:spcAft>
                      </a:pPr>
                      <a:r>
                        <a:rPr lang="en-US" sz="1000" dirty="0" err="1">
                          <a:effectLst/>
                        </a:rPr>
                        <a:t>QoE</a:t>
                      </a:r>
                      <a:r>
                        <a:rPr lang="en-US" sz="1000" dirty="0">
                          <a:effectLst/>
                        </a:rPr>
                        <a:t> </a:t>
                      </a:r>
                      <a:r>
                        <a:rPr lang="en-US" sz="1000" dirty="0" err="1">
                          <a:effectLst/>
                        </a:rPr>
                        <a:t>mang</a:t>
                      </a:r>
                      <a:r>
                        <a:rPr lang="en-US" sz="1000" dirty="0">
                          <a:effectLst/>
                        </a:rPr>
                        <a:t> </a:t>
                      </a:r>
                      <a:r>
                        <a:rPr lang="en-US" sz="1000" dirty="0" err="1">
                          <a:effectLst/>
                        </a:rPr>
                        <a:t>yếu</a:t>
                      </a:r>
                      <a:r>
                        <a:rPr lang="en-US" sz="1000" dirty="0">
                          <a:effectLst/>
                        </a:rPr>
                        <a:t> </a:t>
                      </a:r>
                      <a:r>
                        <a:rPr lang="en-US" sz="1000" dirty="0" err="1">
                          <a:effectLst/>
                        </a:rPr>
                        <a:t>tố</a:t>
                      </a:r>
                      <a:r>
                        <a:rPr lang="en-US" sz="1000" dirty="0">
                          <a:effectLst/>
                        </a:rPr>
                        <a:t> </a:t>
                      </a:r>
                      <a:r>
                        <a:rPr lang="en-US" sz="1000" dirty="0" err="1">
                          <a:effectLst/>
                        </a:rPr>
                        <a:t>quyết</a:t>
                      </a:r>
                      <a:r>
                        <a:rPr lang="en-US" sz="1000" dirty="0">
                          <a:effectLst/>
                        </a:rPr>
                        <a:t> </a:t>
                      </a:r>
                      <a:r>
                        <a:rPr lang="en-US" sz="1000" dirty="0" err="1">
                          <a:effectLst/>
                        </a:rPr>
                        <a:t>định</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330967584"/>
                  </a:ext>
                </a:extLst>
              </a:tr>
            </a:tbl>
          </a:graphicData>
        </a:graphic>
      </p:graphicFrame>
      <p:sp>
        <p:nvSpPr>
          <p:cNvPr id="6" name="Text Placeholder 9">
            <a:extLst>
              <a:ext uri="{FF2B5EF4-FFF2-40B4-BE49-F238E27FC236}">
                <a16:creationId xmlns:a16="http://schemas.microsoft.com/office/drawing/2014/main" id="{EF2BC084-E6DB-4DE7-B309-042A85EBA700}"/>
              </a:ext>
            </a:extLst>
          </p:cNvPr>
          <p:cNvSpPr txBox="1">
            <a:spLocks/>
          </p:cNvSpPr>
          <p:nvPr/>
        </p:nvSpPr>
        <p:spPr>
          <a:xfrm>
            <a:off x="809897" y="1327160"/>
            <a:ext cx="3095897" cy="4689691"/>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600"/>
              </a:spcBef>
              <a:spcAft>
                <a:spcPts val="400"/>
              </a:spcAft>
              <a:buClr>
                <a:schemeClr val="accent2"/>
              </a:buClr>
              <a:buFont typeface="Arial" panose="020B0604020202020204" pitchFamily="34" charset="0"/>
              <a:buChar char="•"/>
              <a:defRPr sz="16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600"/>
              </a:spcBef>
              <a:spcAft>
                <a:spcPts val="400"/>
              </a:spcAft>
              <a:buClr>
                <a:schemeClr val="accent2"/>
              </a:buClr>
              <a:buFont typeface="Arial" panose="020B0604020202020204" pitchFamily="34" charset="0"/>
              <a:buChar char="•"/>
              <a:defRPr sz="14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600"/>
              </a:spcBef>
              <a:spcAft>
                <a:spcPts val="400"/>
              </a:spcAft>
              <a:buClr>
                <a:schemeClr val="accent2"/>
              </a:buClr>
              <a:buFont typeface="Arial" panose="020B0604020202020204" pitchFamily="34" charset="0"/>
              <a:buChar char="•"/>
              <a:defRPr sz="12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dirty="0" err="1" smtClean="0"/>
              <a:t>Từ</a:t>
            </a:r>
            <a:r>
              <a:rPr lang="en-US" dirty="0" smtClean="0"/>
              <a:t> </a:t>
            </a:r>
            <a:r>
              <a:rPr lang="en-US" dirty="0" err="1" smtClean="0"/>
              <a:t>bảng</a:t>
            </a:r>
            <a:r>
              <a:rPr lang="en-US" dirty="0" smtClean="0"/>
              <a:t> 1 </a:t>
            </a:r>
            <a:r>
              <a:rPr lang="en-US" dirty="0" err="1" smtClean="0"/>
              <a:t>có</a:t>
            </a:r>
            <a:r>
              <a:rPr lang="en-US" dirty="0" smtClean="0"/>
              <a:t> </a:t>
            </a:r>
            <a:r>
              <a:rPr lang="en-US" dirty="0" err="1" smtClean="0"/>
              <a:t>thể</a:t>
            </a:r>
            <a:r>
              <a:rPr lang="en-US" dirty="0" smtClean="0"/>
              <a:t> </a:t>
            </a:r>
            <a:r>
              <a:rPr lang="en-US" dirty="0" err="1" smtClean="0"/>
              <a:t>thấy</a:t>
            </a:r>
            <a:r>
              <a:rPr lang="en-US" dirty="0" smtClean="0"/>
              <a:t>, </a:t>
            </a:r>
            <a:r>
              <a:rPr lang="en-US" dirty="0" err="1" smtClean="0"/>
              <a:t>với</a:t>
            </a:r>
            <a:r>
              <a:rPr lang="en-US" dirty="0" smtClean="0"/>
              <a:t> </a:t>
            </a:r>
            <a:r>
              <a:rPr lang="en-US" i="1" dirty="0" smtClean="0"/>
              <a:t>Web 1.0</a:t>
            </a:r>
            <a:r>
              <a:rPr lang="en-US" dirty="0" smtClean="0"/>
              <a:t> </a:t>
            </a:r>
            <a:r>
              <a:rPr lang="en-US" dirty="0" err="1" smtClean="0"/>
              <a:t>người</a:t>
            </a:r>
            <a:r>
              <a:rPr lang="en-US" dirty="0" smtClean="0"/>
              <a:t> </a:t>
            </a:r>
            <a:r>
              <a:rPr lang="en-US" dirty="0" err="1" smtClean="0"/>
              <a:t>dùng</a:t>
            </a:r>
            <a:r>
              <a:rPr lang="en-US" dirty="0" smtClean="0"/>
              <a:t> </a:t>
            </a:r>
            <a:r>
              <a:rPr lang="en-US" i="1" dirty="0" smtClean="0"/>
              <a:t>Web</a:t>
            </a:r>
            <a:r>
              <a:rPr lang="en-US" dirty="0" smtClean="0"/>
              <a:t> </a:t>
            </a:r>
            <a:r>
              <a:rPr lang="en-US" dirty="0" err="1" smtClean="0"/>
              <a:t>rất</a:t>
            </a:r>
            <a:r>
              <a:rPr lang="en-US" dirty="0" smtClean="0"/>
              <a:t> </a:t>
            </a:r>
            <a:r>
              <a:rPr lang="en-US" dirty="0" err="1" smtClean="0"/>
              <a:t>thụ</a:t>
            </a:r>
            <a:r>
              <a:rPr lang="en-US" dirty="0" smtClean="0"/>
              <a:t> </a:t>
            </a:r>
            <a:r>
              <a:rPr lang="en-US" dirty="0" err="1" smtClean="0"/>
              <a:t>động</a:t>
            </a:r>
            <a:r>
              <a:rPr lang="en-US" dirty="0" smtClean="0"/>
              <a:t> </a:t>
            </a:r>
            <a:r>
              <a:rPr lang="en-US" dirty="0" err="1" smtClean="0"/>
              <a:t>với</a:t>
            </a:r>
            <a:r>
              <a:rPr lang="en-US" dirty="0" smtClean="0"/>
              <a:t> </a:t>
            </a:r>
            <a:r>
              <a:rPr lang="en-US" i="1" dirty="0" smtClean="0"/>
              <a:t>Internet,</a:t>
            </a:r>
            <a:r>
              <a:rPr lang="en-US" dirty="0" smtClean="0"/>
              <a:t> </a:t>
            </a:r>
            <a:r>
              <a:rPr lang="en-US" dirty="0" err="1" smtClean="0"/>
              <a:t>nền</a:t>
            </a:r>
            <a:r>
              <a:rPr lang="en-US" dirty="0" smtClean="0"/>
              <a:t> </a:t>
            </a:r>
            <a:r>
              <a:rPr lang="en-US" dirty="0" err="1" smtClean="0"/>
              <a:t>tảng</a:t>
            </a:r>
            <a:r>
              <a:rPr lang="en-US" dirty="0" smtClean="0"/>
              <a:t> </a:t>
            </a:r>
            <a:r>
              <a:rPr lang="en-US" dirty="0" err="1" smtClean="0"/>
              <a:t>về</a:t>
            </a:r>
            <a:r>
              <a:rPr lang="en-US" dirty="0" smtClean="0"/>
              <a:t> </a:t>
            </a:r>
            <a:r>
              <a:rPr lang="en-US" dirty="0" err="1" smtClean="0"/>
              <a:t>công</a:t>
            </a:r>
            <a:r>
              <a:rPr lang="en-US" dirty="0" smtClean="0"/>
              <a:t> </a:t>
            </a:r>
            <a:r>
              <a:rPr lang="en-US" dirty="0" err="1" smtClean="0"/>
              <a:t>nghệ</a:t>
            </a:r>
            <a:r>
              <a:rPr lang="en-US" dirty="0" smtClean="0"/>
              <a:t> </a:t>
            </a:r>
            <a:r>
              <a:rPr lang="en-US" dirty="0" err="1" smtClean="0"/>
              <a:t>thông</a:t>
            </a:r>
            <a:r>
              <a:rPr lang="en-US" dirty="0" smtClean="0"/>
              <a:t> tin </a:t>
            </a:r>
            <a:r>
              <a:rPr lang="en-US" dirty="0" err="1" smtClean="0"/>
              <a:t>và</a:t>
            </a:r>
            <a:r>
              <a:rPr lang="en-US" dirty="0" smtClean="0"/>
              <a:t> </a:t>
            </a:r>
            <a:r>
              <a:rPr lang="en-US" i="1" dirty="0" smtClean="0"/>
              <a:t>Internet</a:t>
            </a:r>
            <a:r>
              <a:rPr lang="en-US" dirty="0" smtClean="0"/>
              <a:t> </a:t>
            </a:r>
            <a:r>
              <a:rPr lang="en-US" dirty="0" err="1" smtClean="0"/>
              <a:t>thời</a:t>
            </a:r>
            <a:r>
              <a:rPr lang="en-US" dirty="0" smtClean="0"/>
              <a:t> </a:t>
            </a:r>
            <a:r>
              <a:rPr lang="en-US" dirty="0" err="1" smtClean="0"/>
              <a:t>kỳ</a:t>
            </a:r>
            <a:r>
              <a:rPr lang="en-US" dirty="0" smtClean="0"/>
              <a:t> </a:t>
            </a:r>
            <a:r>
              <a:rPr lang="en-US" dirty="0" err="1" smtClean="0"/>
              <a:t>đầu</a:t>
            </a:r>
            <a:r>
              <a:rPr lang="en-US" dirty="0" smtClean="0"/>
              <a:t> </a:t>
            </a:r>
            <a:r>
              <a:rPr lang="en-US" dirty="0" err="1" smtClean="0"/>
              <a:t>còn</a:t>
            </a:r>
            <a:r>
              <a:rPr lang="en-US" dirty="0" smtClean="0"/>
              <a:t> </a:t>
            </a:r>
            <a:r>
              <a:rPr lang="en-US" dirty="0" err="1" smtClean="0"/>
              <a:t>rất</a:t>
            </a:r>
            <a:r>
              <a:rPr lang="en-US" dirty="0" smtClean="0"/>
              <a:t> </a:t>
            </a:r>
            <a:r>
              <a:rPr lang="en-US" dirty="0" err="1" smtClean="0"/>
              <a:t>sơ</a:t>
            </a:r>
            <a:r>
              <a:rPr lang="en-US" dirty="0" smtClean="0"/>
              <a:t> </a:t>
            </a:r>
            <a:r>
              <a:rPr lang="en-US" dirty="0" err="1" smtClean="0"/>
              <a:t>khai</a:t>
            </a:r>
            <a:r>
              <a:rPr lang="en-US" dirty="0" smtClean="0"/>
              <a:t>, </a:t>
            </a:r>
            <a:r>
              <a:rPr lang="en-US" dirty="0" err="1" smtClean="0"/>
              <a:t>vì</a:t>
            </a:r>
            <a:r>
              <a:rPr lang="en-US" dirty="0" smtClean="0"/>
              <a:t> </a:t>
            </a:r>
            <a:r>
              <a:rPr lang="en-US" dirty="0" err="1" smtClean="0"/>
              <a:t>vậy</a:t>
            </a:r>
            <a:r>
              <a:rPr lang="en-US" dirty="0" smtClean="0"/>
              <a:t> </a:t>
            </a:r>
            <a:r>
              <a:rPr lang="en-US" dirty="0" err="1" smtClean="0"/>
              <a:t>yêu</a:t>
            </a:r>
            <a:r>
              <a:rPr lang="en-US" dirty="0" smtClean="0"/>
              <a:t> </a:t>
            </a:r>
            <a:r>
              <a:rPr lang="en-US" dirty="0" err="1" smtClean="0"/>
              <a:t>cầu</a:t>
            </a:r>
            <a:r>
              <a:rPr lang="en-US" dirty="0" smtClean="0"/>
              <a:t> </a:t>
            </a:r>
            <a:r>
              <a:rPr lang="en-US" dirty="0" err="1" smtClean="0"/>
              <a:t>của</a:t>
            </a:r>
            <a:r>
              <a:rPr lang="en-US" dirty="0" smtClean="0"/>
              <a:t> </a:t>
            </a:r>
            <a:r>
              <a:rPr lang="en-US" dirty="0" err="1" smtClean="0"/>
              <a:t>người</a:t>
            </a:r>
            <a:r>
              <a:rPr lang="en-US" dirty="0" smtClean="0"/>
              <a:t> </a:t>
            </a:r>
            <a:r>
              <a:rPr lang="en-US" dirty="0" err="1" smtClean="0"/>
              <a:t>dùng</a:t>
            </a:r>
            <a:r>
              <a:rPr lang="en-US" dirty="0" smtClean="0"/>
              <a:t> </a:t>
            </a:r>
            <a:r>
              <a:rPr lang="en-US" dirty="0" err="1" smtClean="0"/>
              <a:t>đối</a:t>
            </a:r>
            <a:r>
              <a:rPr lang="en-US" dirty="0" smtClean="0"/>
              <a:t> </a:t>
            </a:r>
            <a:r>
              <a:rPr lang="en-US" dirty="0" err="1" smtClean="0"/>
              <a:t>với</a:t>
            </a:r>
            <a:r>
              <a:rPr lang="en-US" dirty="0" smtClean="0"/>
              <a:t> </a:t>
            </a:r>
            <a:r>
              <a:rPr lang="en-US" dirty="0" err="1" smtClean="0"/>
              <a:t>các</a:t>
            </a:r>
            <a:r>
              <a:rPr lang="en-US" dirty="0" smtClean="0"/>
              <a:t> </a:t>
            </a:r>
            <a:r>
              <a:rPr lang="en-US" dirty="0" err="1" smtClean="0"/>
              <a:t>ứng</a:t>
            </a:r>
            <a:r>
              <a:rPr lang="en-US" dirty="0" smtClean="0"/>
              <a:t> </a:t>
            </a:r>
            <a:r>
              <a:rPr lang="en-US" dirty="0" err="1" smtClean="0"/>
              <a:t>dụng</a:t>
            </a:r>
            <a:r>
              <a:rPr lang="en-US" dirty="0" smtClean="0"/>
              <a:t> </a:t>
            </a:r>
            <a:r>
              <a:rPr lang="en-US" i="1" dirty="0" smtClean="0"/>
              <a:t>Web</a:t>
            </a:r>
            <a:r>
              <a:rPr lang="en-US" dirty="0" smtClean="0"/>
              <a:t> </a:t>
            </a:r>
            <a:r>
              <a:rPr lang="en-US" dirty="0" err="1" smtClean="0"/>
              <a:t>cũng</a:t>
            </a:r>
            <a:r>
              <a:rPr lang="en-US" dirty="0" smtClean="0"/>
              <a:t> </a:t>
            </a:r>
            <a:r>
              <a:rPr lang="en-US" dirty="0" err="1" smtClean="0"/>
              <a:t>không</a:t>
            </a:r>
            <a:r>
              <a:rPr lang="en-US" dirty="0" smtClean="0"/>
              <a:t> </a:t>
            </a:r>
            <a:r>
              <a:rPr lang="en-US" dirty="0" err="1" smtClean="0"/>
              <a:t>có</a:t>
            </a:r>
            <a:r>
              <a:rPr lang="en-US" dirty="0" smtClean="0"/>
              <a:t> </a:t>
            </a:r>
            <a:r>
              <a:rPr lang="en-US" dirty="0" err="1" smtClean="0"/>
              <a:t>nhiều</a:t>
            </a:r>
            <a:r>
              <a:rPr lang="en-US" dirty="0" smtClean="0"/>
              <a:t>. </a:t>
            </a:r>
            <a:r>
              <a:rPr lang="en-US" dirty="0" err="1" smtClean="0"/>
              <a:t>Trong</a:t>
            </a:r>
            <a:r>
              <a:rPr lang="en-US" dirty="0" smtClean="0"/>
              <a:t> </a:t>
            </a:r>
            <a:r>
              <a:rPr lang="en-US" dirty="0" err="1" smtClean="0"/>
              <a:t>khi</a:t>
            </a:r>
            <a:r>
              <a:rPr lang="en-US" dirty="0" smtClean="0"/>
              <a:t> </a:t>
            </a:r>
            <a:r>
              <a:rPr lang="en-US" dirty="0" err="1" smtClean="0"/>
              <a:t>đó</a:t>
            </a:r>
            <a:r>
              <a:rPr lang="en-US" dirty="0" smtClean="0"/>
              <a:t>, </a:t>
            </a:r>
            <a:r>
              <a:rPr lang="en-US" dirty="0" err="1" smtClean="0"/>
              <a:t>với</a:t>
            </a:r>
            <a:r>
              <a:rPr lang="en-US" dirty="0" smtClean="0"/>
              <a:t> </a:t>
            </a:r>
            <a:r>
              <a:rPr lang="en-US" i="1" dirty="0" smtClean="0"/>
              <a:t>Web 3.0</a:t>
            </a:r>
            <a:r>
              <a:rPr lang="en-US" dirty="0" smtClean="0"/>
              <a:t> </a:t>
            </a:r>
            <a:r>
              <a:rPr lang="en-US" dirty="0" err="1" smtClean="0"/>
              <a:t>và</a:t>
            </a:r>
            <a:r>
              <a:rPr lang="en-US" dirty="0" smtClean="0"/>
              <a:t> </a:t>
            </a:r>
            <a:r>
              <a:rPr lang="en-US" dirty="0" err="1" smtClean="0"/>
              <a:t>tiến</a:t>
            </a:r>
            <a:r>
              <a:rPr lang="en-US" dirty="0" smtClean="0"/>
              <a:t> </a:t>
            </a:r>
            <a:r>
              <a:rPr lang="en-US" dirty="0" err="1" smtClean="0"/>
              <a:t>tới</a:t>
            </a:r>
            <a:r>
              <a:rPr lang="en-US" dirty="0" smtClean="0"/>
              <a:t> </a:t>
            </a:r>
            <a:r>
              <a:rPr lang="en-US" dirty="0" err="1" smtClean="0"/>
              <a:t>là</a:t>
            </a:r>
            <a:r>
              <a:rPr lang="en-US" dirty="0" smtClean="0"/>
              <a:t> </a:t>
            </a:r>
            <a:r>
              <a:rPr lang="en-US" i="1" dirty="0" smtClean="0"/>
              <a:t>Web 4.0</a:t>
            </a:r>
            <a:r>
              <a:rPr lang="en-US" dirty="0" smtClean="0"/>
              <a:t>, </a:t>
            </a:r>
            <a:r>
              <a:rPr lang="en-US" dirty="0" err="1" smtClean="0"/>
              <a:t>kỹ</a:t>
            </a:r>
            <a:r>
              <a:rPr lang="en-US" dirty="0" smtClean="0"/>
              <a:t> </a:t>
            </a:r>
            <a:r>
              <a:rPr lang="en-US" dirty="0" err="1" smtClean="0"/>
              <a:t>năng</a:t>
            </a:r>
            <a:r>
              <a:rPr lang="en-US" dirty="0" smtClean="0"/>
              <a:t> </a:t>
            </a:r>
            <a:r>
              <a:rPr lang="en-US" dirty="0" err="1" smtClean="0"/>
              <a:t>và</a:t>
            </a:r>
            <a:r>
              <a:rPr lang="en-US" dirty="0" smtClean="0"/>
              <a:t> </a:t>
            </a:r>
            <a:r>
              <a:rPr lang="en-US" dirty="0" err="1" smtClean="0"/>
              <a:t>sự</a:t>
            </a:r>
            <a:r>
              <a:rPr lang="en-US" dirty="0" smtClean="0"/>
              <a:t> </a:t>
            </a:r>
            <a:r>
              <a:rPr lang="en-US" dirty="0" err="1" smtClean="0"/>
              <a:t>hiểu</a:t>
            </a:r>
            <a:r>
              <a:rPr lang="en-US" dirty="0" smtClean="0"/>
              <a:t> </a:t>
            </a:r>
            <a:r>
              <a:rPr lang="en-US" dirty="0" err="1" smtClean="0"/>
              <a:t>biết</a:t>
            </a:r>
            <a:r>
              <a:rPr lang="en-US" dirty="0" smtClean="0"/>
              <a:t> </a:t>
            </a:r>
            <a:r>
              <a:rPr lang="en-US" dirty="0" err="1" smtClean="0"/>
              <a:t>của</a:t>
            </a:r>
            <a:r>
              <a:rPr lang="en-US" dirty="0" smtClean="0"/>
              <a:t> </a:t>
            </a:r>
            <a:r>
              <a:rPr lang="en-US" dirty="0" err="1" smtClean="0"/>
              <a:t>người</a:t>
            </a:r>
            <a:r>
              <a:rPr lang="en-US" dirty="0" smtClean="0"/>
              <a:t> </a:t>
            </a:r>
            <a:r>
              <a:rPr lang="en-US" dirty="0" err="1" smtClean="0"/>
              <a:t>dùng</a:t>
            </a:r>
            <a:r>
              <a:rPr lang="en-US" dirty="0" smtClean="0"/>
              <a:t> </a:t>
            </a:r>
            <a:r>
              <a:rPr lang="en-US" dirty="0" err="1" smtClean="0"/>
              <a:t>đã</a:t>
            </a:r>
            <a:r>
              <a:rPr lang="en-US" dirty="0" smtClean="0"/>
              <a:t> </a:t>
            </a:r>
            <a:r>
              <a:rPr lang="en-US" dirty="0" err="1" smtClean="0"/>
              <a:t>đạt</a:t>
            </a:r>
            <a:r>
              <a:rPr lang="en-US" dirty="0" smtClean="0"/>
              <a:t> </a:t>
            </a:r>
            <a:r>
              <a:rPr lang="en-US" dirty="0" err="1" smtClean="0"/>
              <a:t>đến</a:t>
            </a:r>
            <a:r>
              <a:rPr lang="en-US" dirty="0" smtClean="0"/>
              <a:t> </a:t>
            </a:r>
            <a:r>
              <a:rPr lang="en-US" dirty="0" err="1" smtClean="0"/>
              <a:t>trình</a:t>
            </a:r>
            <a:r>
              <a:rPr lang="en-US" dirty="0" smtClean="0"/>
              <a:t> </a:t>
            </a:r>
            <a:r>
              <a:rPr lang="en-US" dirty="0" err="1" smtClean="0"/>
              <a:t>độ</a:t>
            </a:r>
            <a:r>
              <a:rPr lang="en-US" dirty="0" smtClean="0"/>
              <a:t> </a:t>
            </a:r>
            <a:r>
              <a:rPr lang="en-US" dirty="0" err="1" smtClean="0"/>
              <a:t>cao</a:t>
            </a:r>
            <a:r>
              <a:rPr lang="en-US" dirty="0" smtClean="0"/>
              <a:t> </a:t>
            </a:r>
            <a:r>
              <a:rPr lang="en-US" dirty="0" err="1" smtClean="0"/>
              <a:t>và</a:t>
            </a:r>
            <a:r>
              <a:rPr lang="en-US" dirty="0" smtClean="0"/>
              <a:t> </a:t>
            </a:r>
            <a:r>
              <a:rPr lang="en-US" dirty="0" err="1" smtClean="0"/>
              <a:t>có</a:t>
            </a:r>
            <a:r>
              <a:rPr lang="en-US" dirty="0" smtClean="0"/>
              <a:t> </a:t>
            </a:r>
            <a:r>
              <a:rPr lang="en-US" dirty="0" err="1" smtClean="0"/>
              <a:t>tính</a:t>
            </a:r>
            <a:r>
              <a:rPr lang="en-US" dirty="0" smtClean="0"/>
              <a:t> </a:t>
            </a:r>
            <a:r>
              <a:rPr lang="en-US" dirty="0" err="1" smtClean="0"/>
              <a:t>phổ</a:t>
            </a:r>
            <a:r>
              <a:rPr lang="en-US" dirty="0" smtClean="0"/>
              <a:t> </a:t>
            </a:r>
            <a:r>
              <a:rPr lang="en-US" dirty="0" err="1" smtClean="0"/>
              <a:t>cập</a:t>
            </a:r>
            <a:r>
              <a:rPr lang="en-US" dirty="0" smtClean="0"/>
              <a:t> </a:t>
            </a:r>
            <a:r>
              <a:rPr lang="en-US" dirty="0" err="1" smtClean="0"/>
              <a:t>thì</a:t>
            </a:r>
            <a:r>
              <a:rPr lang="en-US" dirty="0" smtClean="0"/>
              <a:t> </a:t>
            </a:r>
            <a:r>
              <a:rPr lang="en-US" dirty="0" err="1" smtClean="0"/>
              <a:t>các</a:t>
            </a:r>
            <a:r>
              <a:rPr lang="en-US" dirty="0" smtClean="0"/>
              <a:t> </a:t>
            </a:r>
            <a:r>
              <a:rPr lang="en-US" dirty="0" err="1" smtClean="0"/>
              <a:t>yêu</a:t>
            </a:r>
            <a:r>
              <a:rPr lang="en-US" dirty="0" smtClean="0"/>
              <a:t> </a:t>
            </a:r>
            <a:r>
              <a:rPr lang="en-US" dirty="0" err="1" smtClean="0"/>
              <a:t>cầu</a:t>
            </a:r>
            <a:r>
              <a:rPr lang="en-US" dirty="0" smtClean="0"/>
              <a:t> </a:t>
            </a:r>
            <a:r>
              <a:rPr lang="en-US" dirty="0" err="1" smtClean="0"/>
              <a:t>được</a:t>
            </a:r>
            <a:r>
              <a:rPr lang="en-US" dirty="0" smtClean="0"/>
              <a:t> </a:t>
            </a:r>
            <a:r>
              <a:rPr lang="en-US" dirty="0" err="1" smtClean="0"/>
              <a:t>đặt</a:t>
            </a:r>
            <a:r>
              <a:rPr lang="en-US" dirty="0" smtClean="0"/>
              <a:t> </a:t>
            </a:r>
            <a:r>
              <a:rPr lang="en-US" dirty="0" err="1" smtClean="0"/>
              <a:t>ra</a:t>
            </a:r>
            <a:r>
              <a:rPr lang="en-US" dirty="0" smtClean="0"/>
              <a:t> </a:t>
            </a:r>
            <a:r>
              <a:rPr lang="en-US" dirty="0" err="1" smtClean="0"/>
              <a:t>càng</a:t>
            </a:r>
            <a:r>
              <a:rPr lang="en-US" dirty="0" smtClean="0"/>
              <a:t> </a:t>
            </a:r>
            <a:r>
              <a:rPr lang="en-US" dirty="0" err="1" smtClean="0"/>
              <a:t>lớn</a:t>
            </a:r>
            <a:r>
              <a:rPr lang="en-US" dirty="0" smtClean="0"/>
              <a:t>, </a:t>
            </a:r>
            <a:r>
              <a:rPr lang="en-US" dirty="0" err="1" smtClean="0"/>
              <a:t>chất</a:t>
            </a:r>
            <a:r>
              <a:rPr lang="en-US" dirty="0" smtClean="0"/>
              <a:t> </a:t>
            </a:r>
            <a:r>
              <a:rPr lang="en-US" dirty="0" err="1" smtClean="0"/>
              <a:t>lượng</a:t>
            </a:r>
            <a:r>
              <a:rPr lang="en-US" dirty="0" smtClean="0"/>
              <a:t> </a:t>
            </a:r>
            <a:r>
              <a:rPr lang="en-US" dirty="0" err="1" smtClean="0"/>
              <a:t>trải</a:t>
            </a:r>
            <a:r>
              <a:rPr lang="en-US" dirty="0" smtClean="0"/>
              <a:t> </a:t>
            </a:r>
            <a:r>
              <a:rPr lang="en-US" dirty="0" err="1" smtClean="0"/>
              <a:t>nghiệm</a:t>
            </a:r>
            <a:r>
              <a:rPr lang="en-US" dirty="0" smtClean="0"/>
              <a:t> </a:t>
            </a:r>
            <a:r>
              <a:rPr lang="en-US" dirty="0" err="1" smtClean="0"/>
              <a:t>của</a:t>
            </a:r>
            <a:r>
              <a:rPr lang="en-US" dirty="0" smtClean="0"/>
              <a:t> </a:t>
            </a:r>
            <a:r>
              <a:rPr lang="en-US" dirty="0" err="1" smtClean="0"/>
              <a:t>người</a:t>
            </a:r>
            <a:r>
              <a:rPr lang="en-US" dirty="0" smtClean="0"/>
              <a:t> </a:t>
            </a:r>
            <a:r>
              <a:rPr lang="en-US" dirty="0" err="1" smtClean="0"/>
              <a:t>dùng</a:t>
            </a:r>
            <a:r>
              <a:rPr lang="en-US" dirty="0" smtClean="0"/>
              <a:t> </a:t>
            </a:r>
            <a:r>
              <a:rPr lang="en-US" dirty="0" err="1" smtClean="0"/>
              <a:t>trở</a:t>
            </a:r>
            <a:r>
              <a:rPr lang="en-US" dirty="0" smtClean="0"/>
              <a:t> </a:t>
            </a:r>
            <a:r>
              <a:rPr lang="en-US" dirty="0" err="1" smtClean="0"/>
              <a:t>thành</a:t>
            </a:r>
            <a:r>
              <a:rPr lang="en-US" dirty="0" smtClean="0"/>
              <a:t> </a:t>
            </a:r>
            <a:r>
              <a:rPr lang="en-US" dirty="0" err="1" smtClean="0"/>
              <a:t>yếu</a:t>
            </a:r>
            <a:r>
              <a:rPr lang="en-US" dirty="0" smtClean="0"/>
              <a:t> </a:t>
            </a:r>
            <a:r>
              <a:rPr lang="en-US" dirty="0" err="1" smtClean="0"/>
              <a:t>tố</a:t>
            </a:r>
            <a:r>
              <a:rPr lang="en-US" dirty="0" smtClean="0"/>
              <a:t> </a:t>
            </a:r>
            <a:r>
              <a:rPr lang="en-US" dirty="0" err="1" smtClean="0"/>
              <a:t>trọng</a:t>
            </a:r>
            <a:r>
              <a:rPr lang="en-US" dirty="0" smtClean="0"/>
              <a:t> </a:t>
            </a:r>
            <a:r>
              <a:rPr lang="en-US" dirty="0" err="1" smtClean="0"/>
              <a:t>tâm</a:t>
            </a:r>
            <a:r>
              <a:rPr lang="en-US" dirty="0" smtClean="0"/>
              <a:t>, </a:t>
            </a:r>
            <a:r>
              <a:rPr lang="en-US" dirty="0" err="1" smtClean="0"/>
              <a:t>quyết</a:t>
            </a:r>
            <a:r>
              <a:rPr lang="en-US" dirty="0" smtClean="0"/>
              <a:t> </a:t>
            </a:r>
            <a:r>
              <a:rPr lang="en-US" dirty="0" err="1" smtClean="0"/>
              <a:t>định</a:t>
            </a:r>
            <a:r>
              <a:rPr lang="en-US" dirty="0" smtClean="0"/>
              <a:t> </a:t>
            </a:r>
            <a:r>
              <a:rPr lang="en-US" dirty="0" err="1" smtClean="0"/>
              <a:t>sự</a:t>
            </a:r>
            <a:r>
              <a:rPr lang="en-US" dirty="0" smtClean="0"/>
              <a:t> </a:t>
            </a:r>
            <a:r>
              <a:rPr lang="en-US" dirty="0" err="1" smtClean="0"/>
              <a:t>thành</a:t>
            </a:r>
            <a:r>
              <a:rPr lang="en-US" dirty="0" smtClean="0"/>
              <a:t> </a:t>
            </a:r>
            <a:r>
              <a:rPr lang="en-US" dirty="0" err="1" smtClean="0"/>
              <a:t>công</a:t>
            </a:r>
            <a:r>
              <a:rPr lang="en-US" dirty="0" smtClean="0"/>
              <a:t> </a:t>
            </a:r>
            <a:r>
              <a:rPr lang="en-US" dirty="0" err="1" smtClean="0"/>
              <a:t>của</a:t>
            </a:r>
            <a:r>
              <a:rPr lang="en-US" dirty="0" smtClean="0"/>
              <a:t> </a:t>
            </a:r>
            <a:r>
              <a:rPr lang="en-US" dirty="0" err="1" smtClean="0"/>
              <a:t>các</a:t>
            </a:r>
            <a:r>
              <a:rPr lang="en-US" dirty="0" smtClean="0"/>
              <a:t> </a:t>
            </a:r>
            <a:r>
              <a:rPr lang="en-US" dirty="0" err="1" smtClean="0"/>
              <a:t>ứng</a:t>
            </a:r>
            <a:r>
              <a:rPr lang="en-US" dirty="0" smtClean="0"/>
              <a:t> </a:t>
            </a:r>
            <a:r>
              <a:rPr lang="en-US" dirty="0" err="1" smtClean="0"/>
              <a:t>dụng</a:t>
            </a:r>
            <a:r>
              <a:rPr lang="en-US" dirty="0" smtClean="0"/>
              <a:t> </a:t>
            </a:r>
            <a:r>
              <a:rPr lang="en-US" i="1" dirty="0" smtClean="0"/>
              <a:t>Web 4.0</a:t>
            </a:r>
            <a:r>
              <a:rPr lang="en-US" dirty="0" smtClean="0"/>
              <a:t>. </a:t>
            </a:r>
            <a:endParaRPr lang="en-US" dirty="0"/>
          </a:p>
        </p:txBody>
      </p:sp>
    </p:spTree>
    <p:extLst>
      <p:ext uri="{BB962C8B-B14F-4D97-AF65-F5344CB8AC3E}">
        <p14:creationId xmlns:p14="http://schemas.microsoft.com/office/powerpoint/2010/main" val="4173785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p:txBody>
          <a:bodyPr/>
          <a:lstStyle/>
          <a:p>
            <a:r>
              <a:rPr lang="en-US" dirty="0" smtClean="0"/>
              <a:t>So </a:t>
            </a:r>
            <a:r>
              <a:rPr lang="en-US" dirty="0" err="1" smtClean="0"/>
              <a:t>sánh</a:t>
            </a:r>
            <a:r>
              <a:rPr lang="en-US" dirty="0" smtClean="0"/>
              <a:t> Web 4.0 </a:t>
            </a:r>
            <a:r>
              <a:rPr lang="en-US" dirty="0" err="1" smtClean="0"/>
              <a:t>với</a:t>
            </a:r>
            <a:r>
              <a:rPr lang="en-US" dirty="0" smtClean="0"/>
              <a:t> Web 3.0</a:t>
            </a:r>
            <a:endParaRPr lang="en-US" dirty="0"/>
          </a:p>
        </p:txBody>
      </p:sp>
      <p:pic>
        <p:nvPicPr>
          <p:cNvPr id="3" name="Picture 2"/>
          <p:cNvPicPr>
            <a:picLocks noChangeAspect="1"/>
          </p:cNvPicPr>
          <p:nvPr/>
        </p:nvPicPr>
        <p:blipFill>
          <a:blip r:embed="rId2"/>
          <a:stretch>
            <a:fillRect/>
          </a:stretch>
        </p:blipFill>
        <p:spPr>
          <a:xfrm>
            <a:off x="561703" y="1625385"/>
            <a:ext cx="6257925" cy="4095750"/>
          </a:xfrm>
          <a:prstGeom prst="rect">
            <a:avLst/>
          </a:prstGeom>
        </p:spPr>
      </p:pic>
      <p:sp>
        <p:nvSpPr>
          <p:cNvPr id="10" name="Text Placeholder 9">
            <a:extLst>
              <a:ext uri="{FF2B5EF4-FFF2-40B4-BE49-F238E27FC236}">
                <a16:creationId xmlns:a16="http://schemas.microsoft.com/office/drawing/2014/main" id="{EF2BC084-E6DB-4DE7-B309-042A85EBA700}"/>
              </a:ext>
            </a:extLst>
          </p:cNvPr>
          <p:cNvSpPr>
            <a:spLocks noGrp="1"/>
          </p:cNvSpPr>
          <p:nvPr>
            <p:ph type="body" sz="quarter" idx="13"/>
          </p:nvPr>
        </p:nvSpPr>
        <p:spPr>
          <a:xfrm>
            <a:off x="444499" y="1625385"/>
            <a:ext cx="8046357" cy="4689690"/>
          </a:xfrm>
        </p:spPr>
        <p:txBody>
          <a:bodyPr/>
          <a:lstStyle/>
          <a:p>
            <a:pPr marL="0" indent="0">
              <a:buNone/>
            </a:pPr>
            <a:endParaRPr lang="en-US" dirty="0"/>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6</a:t>
            </a:fld>
            <a:endParaRPr lang="en-US" dirty="0"/>
          </a:p>
        </p:txBody>
      </p:sp>
    </p:spTree>
    <p:extLst>
      <p:ext uri="{BB962C8B-B14F-4D97-AF65-F5344CB8AC3E}">
        <p14:creationId xmlns:p14="http://schemas.microsoft.com/office/powerpoint/2010/main" val="3808797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p:txBody>
          <a:bodyPr/>
          <a:lstStyle/>
          <a:p>
            <a:r>
              <a:rPr lang="en-US" dirty="0" smtClean="0"/>
              <a:t>So </a:t>
            </a:r>
            <a:r>
              <a:rPr lang="en-US" dirty="0" err="1" smtClean="0"/>
              <a:t>sánh</a:t>
            </a:r>
            <a:r>
              <a:rPr lang="en-US" dirty="0" smtClean="0"/>
              <a:t> Web 4.0 </a:t>
            </a:r>
            <a:r>
              <a:rPr lang="en-US" dirty="0" err="1" smtClean="0"/>
              <a:t>với</a:t>
            </a:r>
            <a:r>
              <a:rPr lang="en-US" dirty="0" smtClean="0"/>
              <a:t> Web 3.0</a:t>
            </a:r>
            <a:endParaRPr lang="en-US" dirty="0"/>
          </a:p>
        </p:txBody>
      </p:sp>
      <p:sp>
        <p:nvSpPr>
          <p:cNvPr id="10" name="Text Placeholder 9">
            <a:extLst>
              <a:ext uri="{FF2B5EF4-FFF2-40B4-BE49-F238E27FC236}">
                <a16:creationId xmlns:a16="http://schemas.microsoft.com/office/drawing/2014/main" id="{EF2BC084-E6DB-4DE7-B309-042A85EBA700}"/>
              </a:ext>
            </a:extLst>
          </p:cNvPr>
          <p:cNvSpPr>
            <a:spLocks noGrp="1"/>
          </p:cNvSpPr>
          <p:nvPr>
            <p:ph type="body" sz="quarter" idx="13"/>
          </p:nvPr>
        </p:nvSpPr>
        <p:spPr/>
        <p:txBody>
          <a:bodyPr/>
          <a:lstStyle/>
          <a:p>
            <a:pPr marL="0" indent="0">
              <a:buNone/>
            </a:pPr>
            <a:r>
              <a:rPr lang="vi-VN" dirty="0"/>
              <a:t>Sự khác nhau giữa Web 3.0 và Web 4.0 có thể được tóm tắt qua một số khía cạnh chính như sau:</a:t>
            </a:r>
          </a:p>
          <a:p>
            <a:pPr marL="0" indent="0">
              <a:buNone/>
            </a:pPr>
            <a:r>
              <a:rPr lang="vi-VN" b="1" dirty="0"/>
              <a:t>1. Cấu trúc và Kiến trúc</a:t>
            </a:r>
          </a:p>
          <a:p>
            <a:r>
              <a:rPr lang="vi-VN" b="1" dirty="0"/>
              <a:t>Web 3.0</a:t>
            </a:r>
            <a:r>
              <a:rPr lang="vi-VN" dirty="0"/>
              <a:t>: Tập trung vào mô hình phi tập trung, sử dụng công nghệ blockchain để quản lý dữ liệu. Người dùng có quyền kiểm soát dữ liệu của mình.</a:t>
            </a:r>
          </a:p>
          <a:p>
            <a:r>
              <a:rPr lang="vi-VN" b="1" dirty="0"/>
              <a:t>Web 4.0</a:t>
            </a:r>
            <a:r>
              <a:rPr lang="vi-VN" dirty="0"/>
              <a:t>: Kết hợp các công nghệ như IoT và AI, tạo ra một môi trường tích hợp chặt chẽ giữa thế giới thực và ảo.</a:t>
            </a:r>
          </a:p>
          <a:p>
            <a:pPr marL="0" indent="0">
              <a:buNone/>
            </a:pPr>
            <a:r>
              <a:rPr lang="vi-VN" b="1" dirty="0"/>
              <a:t>2. Trí tuệ nhân tạo</a:t>
            </a:r>
          </a:p>
          <a:p>
            <a:r>
              <a:rPr lang="vi-VN" b="1" dirty="0"/>
              <a:t>Web 3.0</a:t>
            </a:r>
            <a:r>
              <a:rPr lang="vi-VN" dirty="0"/>
              <a:t>: AI được sử dụng để cải thiện khả năng tìm kiếm và phân tích dữ liệu, giúp máy tính hiểu ngữ nghĩa.</a:t>
            </a:r>
          </a:p>
          <a:p>
            <a:r>
              <a:rPr lang="vi-VN" b="1" dirty="0"/>
              <a:t>Web 4.0</a:t>
            </a:r>
            <a:r>
              <a:rPr lang="vi-VN" dirty="0"/>
              <a:t>: AI phát triển hơn, cho phép tự động hóa và ra quyết định trong thời gian thực, tạo ra các hệ thống thông minh</a:t>
            </a:r>
            <a:r>
              <a:rPr lang="vi-VN" dirty="0" smtClean="0"/>
              <a:t>.</a:t>
            </a:r>
            <a:endParaRPr lang="vi-VN" dirty="0"/>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7</a:t>
            </a:fld>
            <a:endParaRPr lang="en-US" dirty="0"/>
          </a:p>
        </p:txBody>
      </p:sp>
    </p:spTree>
    <p:extLst>
      <p:ext uri="{BB962C8B-B14F-4D97-AF65-F5344CB8AC3E}">
        <p14:creationId xmlns:p14="http://schemas.microsoft.com/office/powerpoint/2010/main" val="1041061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p:txBody>
          <a:bodyPr/>
          <a:lstStyle/>
          <a:p>
            <a:r>
              <a:rPr lang="en-US" dirty="0"/>
              <a:t>So </a:t>
            </a:r>
            <a:r>
              <a:rPr lang="en-US" dirty="0" err="1"/>
              <a:t>sánh</a:t>
            </a:r>
            <a:r>
              <a:rPr lang="en-US" dirty="0"/>
              <a:t> Web 4.0 </a:t>
            </a:r>
            <a:r>
              <a:rPr lang="en-US" dirty="0" err="1"/>
              <a:t>với</a:t>
            </a:r>
            <a:r>
              <a:rPr lang="en-US" dirty="0"/>
              <a:t> Web 3.0</a:t>
            </a:r>
          </a:p>
        </p:txBody>
      </p:sp>
      <p:sp>
        <p:nvSpPr>
          <p:cNvPr id="10" name="Text Placeholder 9">
            <a:extLst>
              <a:ext uri="{FF2B5EF4-FFF2-40B4-BE49-F238E27FC236}">
                <a16:creationId xmlns:a16="http://schemas.microsoft.com/office/drawing/2014/main" id="{EF2BC084-E6DB-4DE7-B309-042A85EBA700}"/>
              </a:ext>
            </a:extLst>
          </p:cNvPr>
          <p:cNvSpPr>
            <a:spLocks noGrp="1"/>
          </p:cNvSpPr>
          <p:nvPr>
            <p:ph type="body" sz="quarter" idx="13"/>
          </p:nvPr>
        </p:nvSpPr>
        <p:spPr/>
        <p:txBody>
          <a:bodyPr/>
          <a:lstStyle/>
          <a:p>
            <a:pPr marL="0" indent="0">
              <a:buNone/>
            </a:pPr>
            <a:r>
              <a:rPr lang="vi-VN" b="1" dirty="0"/>
              <a:t>3. Trải nghiệm người dùng</a:t>
            </a:r>
          </a:p>
          <a:p>
            <a:r>
              <a:rPr lang="vi-VN" b="1" dirty="0"/>
              <a:t>Web 3.0</a:t>
            </a:r>
            <a:r>
              <a:rPr lang="vi-VN" dirty="0"/>
              <a:t>: Trải nghiệm người dùng dựa trên quyền kiểm soát và bảo mật dữ liệu cá nhân.</a:t>
            </a:r>
          </a:p>
          <a:p>
            <a:r>
              <a:rPr lang="vi-VN" b="1" dirty="0"/>
              <a:t>Web 4.0</a:t>
            </a:r>
            <a:r>
              <a:rPr lang="vi-VN" dirty="0"/>
              <a:t>: Tạo ra trải nghiệm cá nhân hóa sâu sắc hơn, với sự tương tác linh hoạt và đa chiều giữa người dùng và máy móc.</a:t>
            </a:r>
          </a:p>
          <a:p>
            <a:pPr marL="0" indent="0">
              <a:buNone/>
            </a:pPr>
            <a:r>
              <a:rPr lang="vi-VN" b="1" dirty="0"/>
              <a:t>4. Tính kết nối</a:t>
            </a:r>
          </a:p>
          <a:p>
            <a:r>
              <a:rPr lang="vi-VN" b="1" dirty="0"/>
              <a:t>Web 3.0</a:t>
            </a:r>
            <a:r>
              <a:rPr lang="vi-VN" dirty="0"/>
              <a:t>: Kết nối giữa các ứng dụng phi tập trung và người dùng là chính, nhưng không nhất thiết phải kết nối với thế giới thực.</a:t>
            </a:r>
          </a:p>
          <a:p>
            <a:r>
              <a:rPr lang="vi-VN" b="1" dirty="0"/>
              <a:t>Web 4.0</a:t>
            </a:r>
            <a:r>
              <a:rPr lang="vi-VN" dirty="0"/>
              <a:t>: Tích cực kết nối giữa các thiết bị thông minh, dữ liệu lớn, và các hệ thống trong thời gian thực</a:t>
            </a:r>
            <a:r>
              <a:rPr lang="vi-VN" dirty="0" smtClean="0"/>
              <a:t>.</a:t>
            </a:r>
            <a:endParaRPr lang="vi-VN" dirty="0"/>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8</a:t>
            </a:fld>
            <a:endParaRPr lang="en-US" dirty="0"/>
          </a:p>
        </p:txBody>
      </p:sp>
    </p:spTree>
    <p:extLst>
      <p:ext uri="{BB962C8B-B14F-4D97-AF65-F5344CB8AC3E}">
        <p14:creationId xmlns:p14="http://schemas.microsoft.com/office/powerpoint/2010/main" val="1613046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p:txBody>
          <a:bodyPr/>
          <a:lstStyle/>
          <a:p>
            <a:r>
              <a:rPr lang="en-US" dirty="0"/>
              <a:t>So </a:t>
            </a:r>
            <a:r>
              <a:rPr lang="en-US" dirty="0" err="1"/>
              <a:t>sánh</a:t>
            </a:r>
            <a:r>
              <a:rPr lang="en-US" dirty="0"/>
              <a:t> Web 4.0 </a:t>
            </a:r>
            <a:r>
              <a:rPr lang="en-US" dirty="0" err="1"/>
              <a:t>với</a:t>
            </a:r>
            <a:r>
              <a:rPr lang="en-US" dirty="0"/>
              <a:t> Web 3.0</a:t>
            </a:r>
          </a:p>
        </p:txBody>
      </p:sp>
      <p:sp>
        <p:nvSpPr>
          <p:cNvPr id="10" name="Text Placeholder 9">
            <a:extLst>
              <a:ext uri="{FF2B5EF4-FFF2-40B4-BE49-F238E27FC236}">
                <a16:creationId xmlns:a16="http://schemas.microsoft.com/office/drawing/2014/main" id="{EF2BC084-E6DB-4DE7-B309-042A85EBA700}"/>
              </a:ext>
            </a:extLst>
          </p:cNvPr>
          <p:cNvSpPr>
            <a:spLocks noGrp="1"/>
          </p:cNvSpPr>
          <p:nvPr>
            <p:ph type="body" sz="quarter" idx="13"/>
          </p:nvPr>
        </p:nvSpPr>
        <p:spPr/>
        <p:txBody>
          <a:bodyPr/>
          <a:lstStyle/>
          <a:p>
            <a:pPr marL="0" indent="0">
              <a:buNone/>
            </a:pPr>
            <a:r>
              <a:rPr lang="vi-VN" b="1" dirty="0"/>
              <a:t>5. Mục tiêu</a:t>
            </a:r>
          </a:p>
          <a:p>
            <a:r>
              <a:rPr lang="vi-VN" b="1" dirty="0"/>
              <a:t>Web 3.0</a:t>
            </a:r>
            <a:r>
              <a:rPr lang="vi-VN" dirty="0"/>
              <a:t>: Đem lại quyền kiểm soát cho người dùng, bảo vệ quyền riêng tư và dữ liệu cá nhân.</a:t>
            </a:r>
          </a:p>
          <a:p>
            <a:r>
              <a:rPr lang="vi-VN" b="1" dirty="0"/>
              <a:t>Web 4.0</a:t>
            </a:r>
            <a:r>
              <a:rPr lang="vi-VN" dirty="0"/>
              <a:t>: Tạo ra một thế giới số thông minh, nâng cao sự tương tác và khả năng tự động hóa, giúp người dùng và máy móc làm việc hiệu quả hơn.</a:t>
            </a: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9</a:t>
            </a:fld>
            <a:endParaRPr lang="en-US" dirty="0"/>
          </a:p>
        </p:txBody>
      </p:sp>
    </p:spTree>
    <p:extLst>
      <p:ext uri="{BB962C8B-B14F-4D97-AF65-F5344CB8AC3E}">
        <p14:creationId xmlns:p14="http://schemas.microsoft.com/office/powerpoint/2010/main" val="28832888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p:txBody>
          <a:bodyPr/>
          <a:lstStyle/>
          <a:p>
            <a:r>
              <a:rPr lang="en-US" dirty="0" err="1" smtClean="0"/>
              <a:t>Thách</a:t>
            </a:r>
            <a:r>
              <a:rPr lang="en-US" dirty="0" smtClean="0"/>
              <a:t> </a:t>
            </a:r>
            <a:r>
              <a:rPr lang="en-US" dirty="0" err="1" smtClean="0"/>
              <a:t>thức</a:t>
            </a:r>
            <a:r>
              <a:rPr lang="en-US" dirty="0" smtClean="0"/>
              <a:t> </a:t>
            </a:r>
            <a:r>
              <a:rPr lang="en-US" dirty="0" err="1" smtClean="0"/>
              <a:t>của</a:t>
            </a:r>
            <a:r>
              <a:rPr lang="en-US" dirty="0" smtClean="0"/>
              <a:t> Web 4.0</a:t>
            </a:r>
            <a:endParaRPr lang="en-US" dirty="0"/>
          </a:p>
        </p:txBody>
      </p:sp>
      <p:sp>
        <p:nvSpPr>
          <p:cNvPr id="10" name="Text Placeholder 9">
            <a:extLst>
              <a:ext uri="{FF2B5EF4-FFF2-40B4-BE49-F238E27FC236}">
                <a16:creationId xmlns:a16="http://schemas.microsoft.com/office/drawing/2014/main" id="{EF2BC084-E6DB-4DE7-B309-042A85EBA700}"/>
              </a:ext>
            </a:extLst>
          </p:cNvPr>
          <p:cNvSpPr>
            <a:spLocks noGrp="1"/>
          </p:cNvSpPr>
          <p:nvPr>
            <p:ph type="body" sz="quarter" idx="13"/>
          </p:nvPr>
        </p:nvSpPr>
        <p:spPr>
          <a:xfrm>
            <a:off x="444500" y="1625385"/>
            <a:ext cx="10136414" cy="4093243"/>
          </a:xfrm>
        </p:spPr>
        <p:txBody>
          <a:bodyPr/>
          <a:lstStyle/>
          <a:p>
            <a:pPr marL="0" indent="0">
              <a:buNone/>
            </a:pPr>
            <a:r>
              <a:rPr lang="vi-VN" dirty="0"/>
              <a:t>Triển khai và xây dựng Web 4.0 đi kèm với nhiều thách thức khác nhau. Dưới đây là một số thách thức chính</a:t>
            </a:r>
            <a:r>
              <a:rPr lang="vi-VN" dirty="0" smtClean="0"/>
              <a:t>:</a:t>
            </a:r>
            <a:endParaRPr lang="en-US" dirty="0" smtClean="0"/>
          </a:p>
          <a:p>
            <a:pPr marL="0" indent="0">
              <a:buNone/>
            </a:pPr>
            <a:r>
              <a:rPr lang="en-US" dirty="0" smtClean="0"/>
              <a:t>1. </a:t>
            </a:r>
            <a:r>
              <a:rPr lang="vi-VN" dirty="0" smtClean="0"/>
              <a:t>Tính </a:t>
            </a:r>
            <a:r>
              <a:rPr lang="vi-VN" dirty="0"/>
              <a:t>Bảo Mật và Quyền Riêng </a:t>
            </a:r>
            <a:r>
              <a:rPr lang="vi-VN" dirty="0" smtClean="0"/>
              <a:t>Tư</a:t>
            </a:r>
            <a:endParaRPr lang="en-US" dirty="0" smtClean="0"/>
          </a:p>
          <a:p>
            <a:pPr marL="0" indent="0">
              <a:buNone/>
            </a:pPr>
            <a:r>
              <a:rPr lang="en-US" dirty="0" smtClean="0"/>
              <a:t>+ </a:t>
            </a:r>
            <a:r>
              <a:rPr lang="vi-VN" dirty="0" smtClean="0"/>
              <a:t>Dữ </a:t>
            </a:r>
            <a:r>
              <a:rPr lang="vi-VN" dirty="0"/>
              <a:t>liệu nhạy cảm: Việc thu thập và phân tích dữ liệu lớn có thể dẫn đến rủi ro về quyền riêng tư. Cần đảm bảo rằng người dùng có quyền kiểm soát dữ liệu của mình</a:t>
            </a:r>
            <a:r>
              <a:rPr lang="vi-VN" dirty="0" smtClean="0"/>
              <a:t>.</a:t>
            </a:r>
            <a:endParaRPr lang="en-US" dirty="0" smtClean="0"/>
          </a:p>
          <a:p>
            <a:pPr marL="0" indent="0">
              <a:buNone/>
            </a:pPr>
            <a:r>
              <a:rPr lang="en-US" dirty="0" smtClean="0"/>
              <a:t>+ </a:t>
            </a:r>
            <a:r>
              <a:rPr lang="vi-VN" dirty="0" smtClean="0"/>
              <a:t>An </a:t>
            </a:r>
            <a:r>
              <a:rPr lang="vi-VN" dirty="0"/>
              <a:t>ninh mạng: Các lỗ hổng bảo mật có thể bị khai thác, đòi hỏi các biện pháp bảo vệ mạnh mẽ hơn</a:t>
            </a:r>
            <a:r>
              <a:rPr lang="vi-VN" dirty="0" smtClean="0"/>
              <a:t>.</a:t>
            </a:r>
            <a:endParaRPr lang="en-US" dirty="0" smtClean="0"/>
          </a:p>
          <a:p>
            <a:pPr marL="0" indent="0">
              <a:buNone/>
            </a:pPr>
            <a:r>
              <a:rPr lang="en-US" dirty="0" smtClean="0"/>
              <a:t>2. </a:t>
            </a:r>
            <a:r>
              <a:rPr lang="vi-VN" dirty="0" smtClean="0"/>
              <a:t>Khả </a:t>
            </a:r>
            <a:r>
              <a:rPr lang="vi-VN" dirty="0"/>
              <a:t>Năng Tích </a:t>
            </a:r>
            <a:r>
              <a:rPr lang="vi-VN" dirty="0" smtClean="0"/>
              <a:t>Hợp</a:t>
            </a:r>
            <a:endParaRPr lang="en-US" dirty="0" smtClean="0"/>
          </a:p>
          <a:p>
            <a:pPr marL="0" indent="0">
              <a:buNone/>
            </a:pPr>
            <a:r>
              <a:rPr lang="en-US" dirty="0" smtClean="0"/>
              <a:t>+ </a:t>
            </a:r>
            <a:r>
              <a:rPr lang="vi-VN" dirty="0" smtClean="0"/>
              <a:t>Nhiều </a:t>
            </a:r>
            <a:r>
              <a:rPr lang="vi-VN" dirty="0"/>
              <a:t>nền tảng và công nghệ: Web 4.0 cần tích hợp nhiều công nghệ như IoT, AI, và blockchain, điều này có thể gây khó khăn trong việc xây dựng một hệ sinh thái đồng nhất</a:t>
            </a:r>
            <a:r>
              <a:rPr lang="vi-VN" dirty="0" smtClean="0"/>
              <a:t>.</a:t>
            </a:r>
            <a:endParaRPr lang="en-US" dirty="0" smtClean="0"/>
          </a:p>
          <a:p>
            <a:pPr marL="0" indent="0">
              <a:buNone/>
            </a:pPr>
            <a:r>
              <a:rPr lang="en-US" dirty="0" smtClean="0"/>
              <a:t>+ </a:t>
            </a:r>
            <a:r>
              <a:rPr lang="vi-VN" dirty="0" smtClean="0"/>
              <a:t>Chuẩn </a:t>
            </a:r>
            <a:r>
              <a:rPr lang="vi-VN" dirty="0"/>
              <a:t>hóa: </a:t>
            </a:r>
            <a:r>
              <a:rPr lang="en-US" dirty="0" err="1" smtClean="0"/>
              <a:t>Cần</a:t>
            </a:r>
            <a:r>
              <a:rPr lang="en-US" dirty="0" smtClean="0"/>
              <a:t> </a:t>
            </a:r>
            <a:r>
              <a:rPr lang="en-US" dirty="0" err="1" smtClean="0"/>
              <a:t>chuẩn</a:t>
            </a:r>
            <a:r>
              <a:rPr lang="en-US" dirty="0" smtClean="0"/>
              <a:t> </a:t>
            </a:r>
            <a:r>
              <a:rPr lang="en-US" dirty="0" err="1" smtClean="0"/>
              <a:t>hóa</a:t>
            </a:r>
            <a:r>
              <a:rPr lang="vi-VN" dirty="0" smtClean="0"/>
              <a:t> </a:t>
            </a:r>
            <a:r>
              <a:rPr lang="vi-VN" dirty="0"/>
              <a:t>giữa các nền </a:t>
            </a:r>
            <a:r>
              <a:rPr lang="vi-VN" dirty="0" smtClean="0"/>
              <a:t>tảng</a:t>
            </a:r>
            <a:r>
              <a:rPr lang="en-US" dirty="0" smtClean="0"/>
              <a:t> </a:t>
            </a:r>
            <a:r>
              <a:rPr lang="en-US" dirty="0" err="1" smtClean="0"/>
              <a:t>công</a:t>
            </a:r>
            <a:r>
              <a:rPr lang="en-US" dirty="0" smtClean="0"/>
              <a:t> </a:t>
            </a:r>
            <a:r>
              <a:rPr lang="en-US" dirty="0" err="1" smtClean="0"/>
              <a:t>nghệ</a:t>
            </a:r>
            <a:r>
              <a:rPr lang="en-US" dirty="0" smtClean="0"/>
              <a:t>, </a:t>
            </a:r>
            <a:r>
              <a:rPr lang="en-US" dirty="0" err="1" smtClean="0"/>
              <a:t>sự</a:t>
            </a:r>
            <a:r>
              <a:rPr lang="en-US" dirty="0" smtClean="0"/>
              <a:t> </a:t>
            </a:r>
            <a:r>
              <a:rPr lang="en-US" dirty="0" err="1" smtClean="0"/>
              <a:t>khác</a:t>
            </a:r>
            <a:r>
              <a:rPr lang="en-US" dirty="0" smtClean="0"/>
              <a:t> </a:t>
            </a:r>
            <a:r>
              <a:rPr lang="en-US" dirty="0" err="1" smtClean="0"/>
              <a:t>biệt</a:t>
            </a:r>
            <a:r>
              <a:rPr lang="en-US" dirty="0" smtClean="0"/>
              <a:t> </a:t>
            </a:r>
            <a:r>
              <a:rPr lang="en-US" dirty="0" err="1" smtClean="0"/>
              <a:t>về</a:t>
            </a:r>
            <a:r>
              <a:rPr lang="en-US" dirty="0" smtClean="0"/>
              <a:t> </a:t>
            </a:r>
            <a:r>
              <a:rPr lang="en-US" dirty="0" err="1" smtClean="0"/>
              <a:t>cấu</a:t>
            </a:r>
            <a:r>
              <a:rPr lang="en-US" dirty="0" smtClean="0"/>
              <a:t> </a:t>
            </a:r>
            <a:r>
              <a:rPr lang="en-US" dirty="0" err="1" smtClean="0"/>
              <a:t>hình</a:t>
            </a:r>
            <a:r>
              <a:rPr lang="en-US" dirty="0" smtClean="0"/>
              <a:t>, </a:t>
            </a:r>
            <a:r>
              <a:rPr lang="en-US" dirty="0" err="1" smtClean="0"/>
              <a:t>cấu</a:t>
            </a:r>
            <a:r>
              <a:rPr lang="en-US" dirty="0" smtClean="0"/>
              <a:t> </a:t>
            </a:r>
            <a:r>
              <a:rPr lang="en-US" dirty="0" err="1" smtClean="0"/>
              <a:t>trúc</a:t>
            </a:r>
            <a:r>
              <a:rPr lang="en-US" dirty="0" smtClean="0"/>
              <a:t> </a:t>
            </a:r>
            <a:r>
              <a:rPr lang="en-US" dirty="0" err="1" smtClean="0"/>
              <a:t>dữ</a:t>
            </a:r>
            <a:r>
              <a:rPr lang="en-US" dirty="0" smtClean="0"/>
              <a:t> </a:t>
            </a:r>
            <a:r>
              <a:rPr lang="en-US" dirty="0" err="1" smtClean="0"/>
              <a:t>liệu</a:t>
            </a:r>
            <a:r>
              <a:rPr lang="en-US" dirty="0" smtClean="0"/>
              <a:t> </a:t>
            </a:r>
            <a:r>
              <a:rPr lang="en-US" dirty="0" err="1" smtClean="0"/>
              <a:t>từ</a:t>
            </a:r>
            <a:r>
              <a:rPr lang="en-US" dirty="0" smtClean="0"/>
              <a:t> </a:t>
            </a:r>
            <a:r>
              <a:rPr lang="en-US" dirty="0" err="1" smtClean="0"/>
              <a:t>các</a:t>
            </a:r>
            <a:r>
              <a:rPr lang="en-US" dirty="0" smtClean="0"/>
              <a:t> </a:t>
            </a:r>
            <a:r>
              <a:rPr lang="en-US" dirty="0" err="1" smtClean="0"/>
              <a:t>nguồn</a:t>
            </a:r>
            <a:r>
              <a:rPr lang="en-US" dirty="0" smtClean="0"/>
              <a:t> </a:t>
            </a:r>
            <a:r>
              <a:rPr lang="en-US" dirty="0" err="1" smtClean="0"/>
              <a:t>thiết</a:t>
            </a:r>
            <a:r>
              <a:rPr lang="en-US" dirty="0" smtClean="0"/>
              <a:t> </a:t>
            </a:r>
            <a:r>
              <a:rPr lang="en-US" dirty="0" err="1" smtClean="0"/>
              <a:t>bị</a:t>
            </a:r>
            <a:r>
              <a:rPr lang="en-US" dirty="0" smtClean="0"/>
              <a:t> </a:t>
            </a:r>
            <a:r>
              <a:rPr lang="en-US" dirty="0" err="1" smtClean="0"/>
              <a:t>xử</a:t>
            </a:r>
            <a:r>
              <a:rPr lang="en-US" dirty="0" smtClean="0"/>
              <a:t> </a:t>
            </a:r>
            <a:r>
              <a:rPr lang="en-US" dirty="0" err="1" smtClean="0"/>
              <a:t>lý</a:t>
            </a:r>
            <a:r>
              <a:rPr lang="en-US" dirty="0" smtClean="0"/>
              <a:t> </a:t>
            </a:r>
            <a:r>
              <a:rPr lang="en-US" dirty="0" err="1" smtClean="0"/>
              <a:t>thông</a:t>
            </a:r>
            <a:r>
              <a:rPr lang="en-US" dirty="0" smtClean="0"/>
              <a:t> tin</a:t>
            </a:r>
            <a:r>
              <a:rPr lang="vi-VN" dirty="0" smtClean="0"/>
              <a:t> </a:t>
            </a:r>
            <a:r>
              <a:rPr lang="vi-VN" dirty="0"/>
              <a:t>khác nhau có thể gây khó khăn trong việc kết nối và tương tác</a:t>
            </a:r>
            <a:r>
              <a:rPr lang="vi-VN" dirty="0" smtClean="0"/>
              <a:t>.</a:t>
            </a:r>
            <a:endParaRPr lang="en-US" dirty="0" smtClean="0"/>
          </a:p>
          <a:p>
            <a:pPr marL="0" indent="0">
              <a:buNone/>
            </a:pPr>
            <a:r>
              <a:rPr lang="vi-VN" dirty="0" smtClean="0"/>
              <a:t>3</a:t>
            </a:r>
            <a:r>
              <a:rPr lang="vi-VN" dirty="0"/>
              <a:t>. Chi Phí Đầu </a:t>
            </a:r>
            <a:r>
              <a:rPr lang="vi-VN" dirty="0" smtClean="0"/>
              <a:t>Tư</a:t>
            </a:r>
            <a:r>
              <a:rPr lang="en-US" dirty="0" smtClean="0"/>
              <a:t> </a:t>
            </a:r>
            <a:r>
              <a:rPr lang="vi-VN" dirty="0" smtClean="0"/>
              <a:t>ban </a:t>
            </a:r>
            <a:r>
              <a:rPr lang="vi-VN" dirty="0"/>
              <a:t>đầu cao: Việc xây dựng cơ sở hạ tầng công nghệ tiên tiến có thể đòi hỏi chi phí lớn, điều này có thể là một rào cản đối với nhiều tổ chức, đặc biệt là doanh nghiệp nhỏ</a:t>
            </a:r>
            <a:r>
              <a:rPr lang="vi-VN" dirty="0" smtClean="0"/>
              <a:t>.</a:t>
            </a:r>
            <a:endParaRPr lang="en-US" dirty="0" smtClean="0"/>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10</a:t>
            </a:fld>
            <a:endParaRPr lang="en-US" dirty="0"/>
          </a:p>
        </p:txBody>
      </p:sp>
    </p:spTree>
    <p:extLst>
      <p:ext uri="{BB962C8B-B14F-4D97-AF65-F5344CB8AC3E}">
        <p14:creationId xmlns:p14="http://schemas.microsoft.com/office/powerpoint/2010/main" val="34765504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p:txBody>
          <a:bodyPr/>
          <a:lstStyle/>
          <a:p>
            <a:r>
              <a:rPr lang="en-US" dirty="0" err="1"/>
              <a:t>Thách</a:t>
            </a:r>
            <a:r>
              <a:rPr lang="en-US" dirty="0"/>
              <a:t> </a:t>
            </a:r>
            <a:r>
              <a:rPr lang="en-US" dirty="0" err="1"/>
              <a:t>thức</a:t>
            </a:r>
            <a:r>
              <a:rPr lang="en-US" dirty="0"/>
              <a:t> </a:t>
            </a:r>
            <a:r>
              <a:rPr lang="en-US" dirty="0" err="1"/>
              <a:t>của</a:t>
            </a:r>
            <a:r>
              <a:rPr lang="en-US" dirty="0"/>
              <a:t> Web 4.0</a:t>
            </a:r>
          </a:p>
        </p:txBody>
      </p:sp>
      <p:sp>
        <p:nvSpPr>
          <p:cNvPr id="10" name="Text Placeholder 9">
            <a:extLst>
              <a:ext uri="{FF2B5EF4-FFF2-40B4-BE49-F238E27FC236}">
                <a16:creationId xmlns:a16="http://schemas.microsoft.com/office/drawing/2014/main" id="{EF2BC084-E6DB-4DE7-B309-042A85EBA700}"/>
              </a:ext>
            </a:extLst>
          </p:cNvPr>
          <p:cNvSpPr>
            <a:spLocks noGrp="1"/>
          </p:cNvSpPr>
          <p:nvPr>
            <p:ph type="body" sz="quarter" idx="13"/>
          </p:nvPr>
        </p:nvSpPr>
        <p:spPr>
          <a:xfrm>
            <a:off x="444499" y="1625385"/>
            <a:ext cx="9875157" cy="4093243"/>
          </a:xfrm>
        </p:spPr>
        <p:txBody>
          <a:bodyPr/>
          <a:lstStyle/>
          <a:p>
            <a:pPr marL="0" indent="0">
              <a:buNone/>
            </a:pPr>
            <a:r>
              <a:rPr lang="vi-VN" dirty="0"/>
              <a:t>4. Kỹ Năng và Nhân </a:t>
            </a:r>
            <a:r>
              <a:rPr lang="vi-VN" dirty="0" smtClean="0"/>
              <a:t>Lực</a:t>
            </a:r>
            <a:endParaRPr lang="en-US" dirty="0" smtClean="0"/>
          </a:p>
          <a:p>
            <a:pPr marL="0" indent="0">
              <a:buNone/>
            </a:pPr>
            <a:r>
              <a:rPr lang="en-US" dirty="0" smtClean="0"/>
              <a:t>+ </a:t>
            </a:r>
            <a:r>
              <a:rPr lang="vi-VN" dirty="0" smtClean="0"/>
              <a:t>Thiếu </a:t>
            </a:r>
            <a:r>
              <a:rPr lang="vi-VN" dirty="0"/>
              <a:t>nhân lực có kỹ năng: Để triển khai Web 4.0, cần có đội ngũ kỹ sư và chuyên gia có kinh nghiệm trong các lĩnh vực mới như AI, dữ liệu lớn, và IoT</a:t>
            </a:r>
            <a:r>
              <a:rPr lang="vi-VN" dirty="0" smtClean="0"/>
              <a:t>.</a:t>
            </a:r>
            <a:endParaRPr lang="en-US" dirty="0" smtClean="0"/>
          </a:p>
          <a:p>
            <a:pPr marL="0" indent="0">
              <a:buNone/>
            </a:pPr>
            <a:r>
              <a:rPr lang="en-US" dirty="0" smtClean="0"/>
              <a:t>+ </a:t>
            </a:r>
            <a:r>
              <a:rPr lang="vi-VN" dirty="0" smtClean="0"/>
              <a:t>Đào </a:t>
            </a:r>
            <a:r>
              <a:rPr lang="vi-VN" dirty="0"/>
              <a:t>tạo liên tục: Công nghệ luôn thay đổi, do đó cần có kế hoạch đào tạo liên tục cho nhân viên</a:t>
            </a:r>
            <a:r>
              <a:rPr lang="vi-VN" dirty="0" smtClean="0"/>
              <a:t>.</a:t>
            </a:r>
            <a:endParaRPr lang="en-US" dirty="0" smtClean="0"/>
          </a:p>
          <a:p>
            <a:pPr marL="0" indent="0">
              <a:buNone/>
            </a:pPr>
            <a:r>
              <a:rPr lang="vi-VN" dirty="0" smtClean="0"/>
              <a:t>5</a:t>
            </a:r>
            <a:r>
              <a:rPr lang="vi-VN" dirty="0"/>
              <a:t>. Chấp Nhận của Người </a:t>
            </a:r>
            <a:r>
              <a:rPr lang="vi-VN" dirty="0" smtClean="0"/>
              <a:t>Dùng</a:t>
            </a:r>
            <a:endParaRPr lang="en-US" dirty="0" smtClean="0"/>
          </a:p>
          <a:p>
            <a:pPr marL="0" indent="0">
              <a:buNone/>
            </a:pPr>
            <a:r>
              <a:rPr lang="en-US" dirty="0" smtClean="0"/>
              <a:t>+ </a:t>
            </a:r>
            <a:r>
              <a:rPr lang="vi-VN" dirty="0" smtClean="0"/>
              <a:t>Thay </a:t>
            </a:r>
            <a:r>
              <a:rPr lang="vi-VN" dirty="0"/>
              <a:t>đổi thói quen: Người dùng có thể gặp khó khăn trong việc thích ứng với các công nghệ mới và cách tương tác khác biệt</a:t>
            </a:r>
            <a:r>
              <a:rPr lang="vi-VN" dirty="0" smtClean="0"/>
              <a:t>.</a:t>
            </a:r>
            <a:endParaRPr lang="en-US" dirty="0" smtClean="0"/>
          </a:p>
          <a:p>
            <a:pPr marL="0" indent="0">
              <a:buNone/>
            </a:pPr>
            <a:r>
              <a:rPr lang="en-US" dirty="0" smtClean="0"/>
              <a:t>+ </a:t>
            </a:r>
            <a:r>
              <a:rPr lang="vi-VN" dirty="0" smtClean="0"/>
              <a:t>Độ </a:t>
            </a:r>
            <a:r>
              <a:rPr lang="vi-VN" dirty="0"/>
              <a:t>tin cậy: Người dùng cần cảm thấy an toàn và tin tưởng vào các giải pháp mới, điều này có thể cần thời gian và nỗ lực</a:t>
            </a:r>
            <a:r>
              <a:rPr lang="vi-VN" dirty="0" smtClean="0"/>
              <a:t>.</a:t>
            </a:r>
            <a:endParaRPr lang="en-US" dirty="0" smtClean="0"/>
          </a:p>
          <a:p>
            <a:pPr marL="0" indent="0">
              <a:buNone/>
            </a:pPr>
            <a:r>
              <a:rPr lang="vi-VN" dirty="0" smtClean="0"/>
              <a:t>6</a:t>
            </a:r>
            <a:r>
              <a:rPr lang="vi-VN" dirty="0"/>
              <a:t>. Quản Lý </a:t>
            </a:r>
            <a:endParaRPr lang="en-US" dirty="0" smtClean="0"/>
          </a:p>
          <a:p>
            <a:pPr marL="0" indent="0">
              <a:buNone/>
            </a:pPr>
            <a:r>
              <a:rPr lang="en-US" dirty="0" smtClean="0"/>
              <a:t>+ </a:t>
            </a:r>
            <a:r>
              <a:rPr lang="vi-VN" dirty="0" smtClean="0"/>
              <a:t>Dữ Liệu: </a:t>
            </a:r>
            <a:r>
              <a:rPr lang="vi-VN" dirty="0"/>
              <a:t>Việc xử lý và quản lý dữ liệu lớn từ nhiều nguồn khác nhau có thể trở thành một thách thức lớn</a:t>
            </a:r>
            <a:r>
              <a:rPr lang="vi-VN" dirty="0" smtClean="0"/>
              <a:t>.</a:t>
            </a:r>
            <a:endParaRPr lang="en-US" dirty="0" smtClean="0"/>
          </a:p>
          <a:p>
            <a:pPr marL="0" indent="0">
              <a:buNone/>
            </a:pPr>
            <a:r>
              <a:rPr lang="en-US" dirty="0" smtClean="0"/>
              <a:t>+ </a:t>
            </a:r>
            <a:r>
              <a:rPr lang="vi-VN" dirty="0" smtClean="0"/>
              <a:t>Phân </a:t>
            </a:r>
            <a:r>
              <a:rPr lang="vi-VN" dirty="0"/>
              <a:t>tích dữ liệu: Cần có các công cụ và kỹ thuật phân tích mạnh mẽ để khai thác giá trị từ dữ liệu.</a:t>
            </a:r>
            <a:endParaRPr lang="en-US" dirty="0"/>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11</a:t>
            </a:fld>
            <a:endParaRPr lang="en-US" dirty="0"/>
          </a:p>
        </p:txBody>
      </p:sp>
    </p:spTree>
    <p:extLst>
      <p:ext uri="{BB962C8B-B14F-4D97-AF65-F5344CB8AC3E}">
        <p14:creationId xmlns:p14="http://schemas.microsoft.com/office/powerpoint/2010/main" val="2923310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179B88-D43C-4A31-9A52-3498E9430782}"/>
              </a:ext>
            </a:extLst>
          </p:cNvPr>
          <p:cNvSpPr>
            <a:spLocks noGrp="1"/>
          </p:cNvSpPr>
          <p:nvPr>
            <p:ph type="title"/>
          </p:nvPr>
        </p:nvSpPr>
        <p:spPr>
          <a:xfrm>
            <a:off x="832104" y="3200400"/>
            <a:ext cx="7781544" cy="1544855"/>
          </a:xfrm>
        </p:spPr>
        <p:txBody>
          <a:bodyPr>
            <a:normAutofit fontScale="90000"/>
          </a:bodyPr>
          <a:lstStyle/>
          <a:p>
            <a:r>
              <a:rPr lang="en-US" dirty="0"/>
              <a:t>MỘT SỐ ỨNG DỤNG TẠI VIỆT NAM</a:t>
            </a:r>
          </a:p>
        </p:txBody>
      </p:sp>
      <p:sp>
        <p:nvSpPr>
          <p:cNvPr id="5" name="Text Placeholder 4">
            <a:extLst>
              <a:ext uri="{FF2B5EF4-FFF2-40B4-BE49-F238E27FC236}">
                <a16:creationId xmlns:a16="http://schemas.microsoft.com/office/drawing/2014/main" id="{DCDDBE65-9AB1-4989-AF86-726591A6A128}"/>
              </a:ext>
            </a:extLst>
          </p:cNvPr>
          <p:cNvSpPr>
            <a:spLocks noGrp="1"/>
          </p:cNvSpPr>
          <p:nvPr>
            <p:ph type="body" idx="1"/>
          </p:nvPr>
        </p:nvSpPr>
        <p:spPr/>
        <p:txBody>
          <a:bodyPr/>
          <a:lstStyle/>
          <a:p>
            <a:r>
              <a:rPr lang="en-US" dirty="0"/>
              <a:t>Subtitle</a:t>
            </a:r>
          </a:p>
        </p:txBody>
      </p:sp>
      <p:sp>
        <p:nvSpPr>
          <p:cNvPr id="2" name="Slide Number Placeholder 1">
            <a:extLst>
              <a:ext uri="{FF2B5EF4-FFF2-40B4-BE49-F238E27FC236}">
                <a16:creationId xmlns:a16="http://schemas.microsoft.com/office/drawing/2014/main" id="{8B065C75-272B-4BB5-BA23-D80E8654D621}"/>
              </a:ext>
            </a:extLst>
          </p:cNvPr>
          <p:cNvSpPr>
            <a:spLocks noGrp="1"/>
          </p:cNvSpPr>
          <p:nvPr>
            <p:ph type="sldNum" sz="quarter" idx="12"/>
          </p:nvPr>
        </p:nvSpPr>
        <p:spPr/>
        <p:txBody>
          <a:bodyPr/>
          <a:lstStyle/>
          <a:p>
            <a:fld id="{C263D6C4-4840-40CC-AC84-17E24B3B7BDE}" type="slidenum">
              <a:rPr lang="en-US" smtClean="0"/>
              <a:pPr/>
              <a:t>12</a:t>
            </a:fld>
            <a:endParaRPr lang="en-US" dirty="0"/>
          </a:p>
        </p:txBody>
      </p:sp>
    </p:spTree>
    <p:extLst>
      <p:ext uri="{BB962C8B-B14F-4D97-AF65-F5344CB8AC3E}">
        <p14:creationId xmlns:p14="http://schemas.microsoft.com/office/powerpoint/2010/main" val="709828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p:txBody>
          <a:bodyPr/>
          <a:lstStyle/>
          <a:p>
            <a:r>
              <a:rPr lang="en-US" dirty="0" err="1" smtClean="0"/>
              <a:t>Xây</a:t>
            </a:r>
            <a:r>
              <a:rPr lang="en-US" dirty="0" smtClean="0"/>
              <a:t> </a:t>
            </a:r>
            <a:r>
              <a:rPr lang="en-US" dirty="0" err="1" smtClean="0"/>
              <a:t>dựng</a:t>
            </a:r>
            <a:r>
              <a:rPr lang="en-US" dirty="0" smtClean="0"/>
              <a:t> </a:t>
            </a:r>
            <a:r>
              <a:rPr lang="en-US" dirty="0" err="1" smtClean="0"/>
              <a:t>thư</a:t>
            </a:r>
            <a:r>
              <a:rPr lang="en-US" dirty="0" smtClean="0"/>
              <a:t> </a:t>
            </a:r>
            <a:r>
              <a:rPr lang="en-US" dirty="0" err="1" smtClean="0"/>
              <a:t>viện</a:t>
            </a:r>
            <a:r>
              <a:rPr lang="en-US" dirty="0" smtClean="0"/>
              <a:t> 4.0</a:t>
            </a:r>
            <a:endParaRPr lang="en-US" dirty="0"/>
          </a:p>
        </p:txBody>
      </p:sp>
      <p:sp>
        <p:nvSpPr>
          <p:cNvPr id="10" name="Text Placeholder 9">
            <a:extLst>
              <a:ext uri="{FF2B5EF4-FFF2-40B4-BE49-F238E27FC236}">
                <a16:creationId xmlns:a16="http://schemas.microsoft.com/office/drawing/2014/main" id="{EF2BC084-E6DB-4DE7-B309-042A85EBA700}"/>
              </a:ext>
            </a:extLst>
          </p:cNvPr>
          <p:cNvSpPr>
            <a:spLocks noGrp="1"/>
          </p:cNvSpPr>
          <p:nvPr>
            <p:ph type="body" sz="quarter" idx="13"/>
          </p:nvPr>
        </p:nvSpPr>
        <p:spPr/>
        <p:txBody>
          <a:bodyPr/>
          <a:lstStyle/>
          <a:p>
            <a:pPr marL="0" indent="0">
              <a:buNone/>
            </a:pPr>
            <a:r>
              <a:rPr lang="en-US" dirty="0" err="1" smtClean="0"/>
              <a:t>Nguyễn</a:t>
            </a:r>
            <a:r>
              <a:rPr lang="en-US" dirty="0" smtClean="0"/>
              <a:t> </a:t>
            </a:r>
            <a:r>
              <a:rPr lang="en-US" dirty="0" err="1"/>
              <a:t>Hoàng</a:t>
            </a:r>
            <a:r>
              <a:rPr lang="en-US" dirty="0"/>
              <a:t> </a:t>
            </a:r>
            <a:r>
              <a:rPr lang="en-US" dirty="0" err="1"/>
              <a:t>Sơn</a:t>
            </a:r>
            <a:r>
              <a:rPr lang="en-US" dirty="0"/>
              <a:t> </a:t>
            </a:r>
            <a:r>
              <a:rPr lang="en-US" dirty="0" err="1"/>
              <a:t>và</a:t>
            </a:r>
            <a:r>
              <a:rPr lang="en-US" dirty="0"/>
              <a:t> </a:t>
            </a:r>
            <a:r>
              <a:rPr lang="en-US" dirty="0" err="1"/>
              <a:t>cộng</a:t>
            </a:r>
            <a:r>
              <a:rPr lang="en-US" dirty="0"/>
              <a:t> </a:t>
            </a:r>
            <a:r>
              <a:rPr lang="en-US" dirty="0" err="1"/>
              <a:t>sự</a:t>
            </a:r>
            <a:r>
              <a:rPr lang="en-US" dirty="0"/>
              <a:t>, “</a:t>
            </a:r>
            <a:r>
              <a:rPr lang="en-US" dirty="0" err="1"/>
              <a:t>Các</a:t>
            </a:r>
            <a:r>
              <a:rPr lang="en-US" dirty="0"/>
              <a:t> </a:t>
            </a:r>
            <a:r>
              <a:rPr lang="en-US" dirty="0" err="1"/>
              <a:t>thế</a:t>
            </a:r>
            <a:r>
              <a:rPr lang="en-US" dirty="0"/>
              <a:t> </a:t>
            </a:r>
            <a:r>
              <a:rPr lang="en-US" dirty="0" err="1"/>
              <a:t>hệ</a:t>
            </a:r>
            <a:r>
              <a:rPr lang="en-US" dirty="0"/>
              <a:t> </a:t>
            </a:r>
            <a:r>
              <a:rPr lang="en-US" dirty="0" err="1"/>
              <a:t>thư</a:t>
            </a:r>
            <a:r>
              <a:rPr lang="en-US" dirty="0"/>
              <a:t> </a:t>
            </a:r>
            <a:r>
              <a:rPr lang="en-US" dirty="0" err="1"/>
              <a:t>viện</a:t>
            </a:r>
            <a:r>
              <a:rPr lang="en-US" dirty="0"/>
              <a:t> </a:t>
            </a:r>
            <a:r>
              <a:rPr lang="en-US" dirty="0" err="1"/>
              <a:t>thông</a:t>
            </a:r>
            <a:r>
              <a:rPr lang="en-US" dirty="0"/>
              <a:t> minh </a:t>
            </a:r>
            <a:endParaRPr lang="en-US" dirty="0" smtClean="0"/>
          </a:p>
          <a:p>
            <a:pPr marL="0" indent="0">
              <a:buNone/>
            </a:pPr>
            <a:r>
              <a:rPr lang="en-US" dirty="0" smtClean="0"/>
              <a:t>(</a:t>
            </a:r>
            <a:r>
              <a:rPr lang="en-US" dirty="0"/>
              <a:t>1990-2025)”, p19, “</a:t>
            </a:r>
            <a:r>
              <a:rPr lang="en-US" dirty="0" err="1"/>
              <a:t>Thư</a:t>
            </a:r>
            <a:r>
              <a:rPr lang="en-US" dirty="0"/>
              <a:t> </a:t>
            </a:r>
            <a:r>
              <a:rPr lang="en-US" dirty="0" err="1"/>
              <a:t>viện</a:t>
            </a:r>
            <a:r>
              <a:rPr lang="en-US" dirty="0"/>
              <a:t> </a:t>
            </a:r>
            <a:r>
              <a:rPr lang="en-US" dirty="0" err="1"/>
              <a:t>thông</a:t>
            </a:r>
            <a:r>
              <a:rPr lang="en-US" dirty="0"/>
              <a:t> minh 4.0 CÔNG NGHỆ _ DỮ LIỆU_CON NGƯỜI”, </a:t>
            </a:r>
            <a:r>
              <a:rPr lang="en-US" dirty="0" err="1"/>
              <a:t>Nhà</a:t>
            </a:r>
            <a:r>
              <a:rPr lang="en-US" dirty="0"/>
              <a:t> </a:t>
            </a:r>
            <a:r>
              <a:rPr lang="en-US" dirty="0" err="1"/>
              <a:t>xuất</a:t>
            </a:r>
            <a:r>
              <a:rPr lang="en-US" dirty="0"/>
              <a:t> </a:t>
            </a:r>
            <a:r>
              <a:rPr lang="en-US" dirty="0" err="1"/>
              <a:t>bản</a:t>
            </a:r>
            <a:r>
              <a:rPr lang="en-US" dirty="0"/>
              <a:t> </a:t>
            </a:r>
            <a:r>
              <a:rPr lang="en-US" dirty="0" err="1"/>
              <a:t>Đại</a:t>
            </a:r>
            <a:r>
              <a:rPr lang="en-US" dirty="0"/>
              <a:t> </a:t>
            </a:r>
            <a:r>
              <a:rPr lang="en-US" dirty="0" err="1"/>
              <a:t>học</a:t>
            </a:r>
            <a:r>
              <a:rPr lang="en-US" dirty="0"/>
              <a:t> </a:t>
            </a:r>
            <a:r>
              <a:rPr lang="en-US" dirty="0" err="1"/>
              <a:t>Quốc</a:t>
            </a:r>
            <a:r>
              <a:rPr lang="en-US" dirty="0"/>
              <a:t> </a:t>
            </a:r>
            <a:r>
              <a:rPr lang="en-US" dirty="0" err="1"/>
              <a:t>Gia</a:t>
            </a:r>
            <a:r>
              <a:rPr lang="en-US" dirty="0"/>
              <a:t> </a:t>
            </a:r>
            <a:r>
              <a:rPr lang="en-US" dirty="0" err="1"/>
              <a:t>Hà</a:t>
            </a:r>
            <a:r>
              <a:rPr lang="en-US" dirty="0"/>
              <a:t> </a:t>
            </a:r>
            <a:r>
              <a:rPr lang="en-US" dirty="0" err="1" smtClean="0"/>
              <a:t>Nội</a:t>
            </a:r>
            <a:endParaRPr lang="en-US" dirty="0" smtClean="0"/>
          </a:p>
          <a:p>
            <a:pPr marL="0" indent="0">
              <a:buNone/>
            </a:pPr>
            <a:endParaRPr lang="en-US" dirty="0"/>
          </a:p>
          <a:p>
            <a:pPr marL="0" indent="0">
              <a:buNone/>
            </a:pPr>
            <a:endParaRPr lang="vi-VN" dirty="0"/>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13</a:t>
            </a:fld>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21580" y="282491"/>
            <a:ext cx="3909173" cy="6215146"/>
          </a:xfrm>
          <a:prstGeom prst="rect">
            <a:avLst/>
          </a:prstGeom>
        </p:spPr>
      </p:pic>
    </p:spTree>
    <p:extLst>
      <p:ext uri="{BB962C8B-B14F-4D97-AF65-F5344CB8AC3E}">
        <p14:creationId xmlns:p14="http://schemas.microsoft.com/office/powerpoint/2010/main" val="7602274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Du </a:t>
            </a:r>
            <a:r>
              <a:rPr lang="en-US" dirty="0" err="1" smtClean="0"/>
              <a:t>lịch</a:t>
            </a:r>
            <a:r>
              <a:rPr lang="en-US" dirty="0" smtClean="0"/>
              <a:t> </a:t>
            </a:r>
            <a:r>
              <a:rPr lang="en-US" dirty="0" err="1" smtClean="0"/>
              <a:t>với</a:t>
            </a:r>
            <a:r>
              <a:rPr lang="en-US" dirty="0" smtClean="0"/>
              <a:t> Web 4.0, 5.0</a:t>
            </a:r>
            <a:endParaRPr lang="en-US" dirty="0"/>
          </a:p>
        </p:txBody>
      </p:sp>
      <p:sp>
        <p:nvSpPr>
          <p:cNvPr id="3" name="Slide Number Placeholder 2"/>
          <p:cNvSpPr>
            <a:spLocks noGrp="1"/>
          </p:cNvSpPr>
          <p:nvPr>
            <p:ph type="sldNum" sz="quarter" idx="12"/>
          </p:nvPr>
        </p:nvSpPr>
        <p:spPr/>
        <p:txBody>
          <a:bodyPr/>
          <a:lstStyle/>
          <a:p>
            <a:fld id="{C263D6C4-4840-40CC-AC84-17E24B3B7BDE}" type="slidenum">
              <a:rPr lang="en-US" noProof="0" smtClean="0"/>
              <a:pPr/>
              <a:t>14</a:t>
            </a:fld>
            <a:endParaRPr lang="en-US" noProof="0" dirty="0"/>
          </a:p>
        </p:txBody>
      </p:sp>
      <p:sp>
        <p:nvSpPr>
          <p:cNvPr id="4" name="Text Placeholder 3"/>
          <p:cNvSpPr>
            <a:spLocks noGrp="1"/>
          </p:cNvSpPr>
          <p:nvPr>
            <p:ph type="body" sz="quarter" idx="13"/>
          </p:nvPr>
        </p:nvSpPr>
        <p:spPr/>
        <p:txBody>
          <a:bodyPr/>
          <a:lstStyle/>
          <a:p>
            <a:r>
              <a:rPr lang="en-US" dirty="0" err="1"/>
              <a:t>Duy</a:t>
            </a:r>
            <a:r>
              <a:rPr lang="en-US" dirty="0"/>
              <a:t> NT, </a:t>
            </a:r>
            <a:r>
              <a:rPr lang="en-US" dirty="0" err="1"/>
              <a:t>Mondal</a:t>
            </a:r>
            <a:r>
              <a:rPr lang="en-US" dirty="0"/>
              <a:t> SR, Van NTT, </a:t>
            </a:r>
            <a:r>
              <a:rPr lang="en-US" dirty="0" err="1"/>
              <a:t>Dzung</a:t>
            </a:r>
            <a:r>
              <a:rPr lang="en-US" dirty="0"/>
              <a:t> PT, Minh DXH, Das S. A Study on the Role of Web 4.0 and 5.0 in the Sustainable Tourism Ecosystem of Ho Chi Minh City, Vietnam. </a:t>
            </a:r>
            <a:r>
              <a:rPr lang="en-US" i="1" dirty="0"/>
              <a:t>Sustainability</a:t>
            </a:r>
            <a:r>
              <a:rPr lang="en-US" dirty="0"/>
              <a:t>. 2020; 12(17):7140. https://doi.org/10.3390/su12177140</a:t>
            </a:r>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59742" y="2702140"/>
            <a:ext cx="6149788" cy="3839225"/>
          </a:xfrm>
          <a:prstGeom prst="rect">
            <a:avLst/>
          </a:prstGeom>
        </p:spPr>
      </p:pic>
    </p:spTree>
    <p:extLst>
      <p:ext uri="{BB962C8B-B14F-4D97-AF65-F5344CB8AC3E}">
        <p14:creationId xmlns:p14="http://schemas.microsoft.com/office/powerpoint/2010/main" val="12572346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p:txBody>
          <a:bodyPr/>
          <a:lstStyle/>
          <a:p>
            <a:r>
              <a:rPr lang="en-US" dirty="0"/>
              <a:t>Thank </a:t>
            </a:r>
            <a:r>
              <a:rPr lang="en-US" dirty="0" smtClean="0"/>
              <a:t>You</a:t>
            </a:r>
            <a:endParaRPr lang="en-GB" dirty="0"/>
          </a:p>
        </p:txBody>
      </p:sp>
    </p:spTree>
    <p:extLst>
      <p:ext uri="{BB962C8B-B14F-4D97-AF65-F5344CB8AC3E}">
        <p14:creationId xmlns:p14="http://schemas.microsoft.com/office/powerpoint/2010/main" val="44069682"/>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98DCA46-603B-4178-8707-30E192CE6B8D}"/>
              </a:ext>
            </a:extLst>
          </p:cNvPr>
          <p:cNvSpPr>
            <a:spLocks noGrp="1"/>
          </p:cNvSpPr>
          <p:nvPr>
            <p:ph type="title"/>
          </p:nvPr>
        </p:nvSpPr>
        <p:spPr/>
        <p:txBody>
          <a:bodyPr/>
          <a:lstStyle/>
          <a:p>
            <a:r>
              <a:rPr lang="en-US" dirty="0" err="1" smtClean="0"/>
              <a:t>Tài</a:t>
            </a:r>
            <a:r>
              <a:rPr lang="en-US" dirty="0" smtClean="0"/>
              <a:t> </a:t>
            </a:r>
            <a:r>
              <a:rPr lang="en-US" dirty="0" err="1" smtClean="0"/>
              <a:t>liệu</a:t>
            </a:r>
            <a:r>
              <a:rPr lang="en-US" dirty="0" smtClean="0"/>
              <a:t> </a:t>
            </a:r>
            <a:r>
              <a:rPr lang="en-US" dirty="0" err="1" smtClean="0"/>
              <a:t>tham</a:t>
            </a:r>
            <a:r>
              <a:rPr lang="en-US" dirty="0" smtClean="0"/>
              <a:t> </a:t>
            </a:r>
            <a:r>
              <a:rPr lang="en-US" dirty="0" err="1" smtClean="0"/>
              <a:t>khảo</a:t>
            </a:r>
            <a:endParaRPr lang="en-US" dirty="0"/>
          </a:p>
        </p:txBody>
      </p:sp>
      <p:sp>
        <p:nvSpPr>
          <p:cNvPr id="2" name="Slide Number Placeholder 1">
            <a:extLst>
              <a:ext uri="{FF2B5EF4-FFF2-40B4-BE49-F238E27FC236}">
                <a16:creationId xmlns:a16="http://schemas.microsoft.com/office/drawing/2014/main" id="{6D90B5C6-1CB0-445E-99D1-8E2FE8C59B50}"/>
              </a:ext>
            </a:extLst>
          </p:cNvPr>
          <p:cNvSpPr>
            <a:spLocks noGrp="1"/>
          </p:cNvSpPr>
          <p:nvPr>
            <p:ph type="sldNum" sz="quarter" idx="12"/>
          </p:nvPr>
        </p:nvSpPr>
        <p:spPr/>
        <p:txBody>
          <a:bodyPr/>
          <a:lstStyle/>
          <a:p>
            <a:fld id="{C263D6C4-4840-40CC-AC84-17E24B3B7BDE}" type="slidenum">
              <a:rPr lang="en-US" smtClean="0"/>
              <a:pPr/>
              <a:t>16</a:t>
            </a:fld>
            <a:endParaRPr lang="en-US" dirty="0"/>
          </a:p>
        </p:txBody>
      </p:sp>
      <p:sp>
        <p:nvSpPr>
          <p:cNvPr id="3" name="Text Placeholder 2">
            <a:extLst>
              <a:ext uri="{FF2B5EF4-FFF2-40B4-BE49-F238E27FC236}">
                <a16:creationId xmlns:a16="http://schemas.microsoft.com/office/drawing/2014/main" id="{06554A61-D199-469B-AB0C-B68F82B5059F}"/>
              </a:ext>
            </a:extLst>
          </p:cNvPr>
          <p:cNvSpPr>
            <a:spLocks noGrp="1"/>
          </p:cNvSpPr>
          <p:nvPr>
            <p:ph type="body" sz="quarter" idx="13"/>
          </p:nvPr>
        </p:nvSpPr>
        <p:spPr>
          <a:xfrm>
            <a:off x="0" y="1358537"/>
            <a:ext cx="12192000" cy="4956537"/>
          </a:xfrm>
        </p:spPr>
        <p:txBody>
          <a:bodyPr>
            <a:normAutofit fontScale="25000" lnSpcReduction="20000"/>
          </a:bodyPr>
          <a:lstStyle/>
          <a:p>
            <a:pPr algn="just"/>
            <a:r>
              <a:rPr lang="en-US" dirty="0"/>
              <a:t>[1]. </a:t>
            </a:r>
            <a:r>
              <a:rPr lang="en-US" dirty="0" err="1"/>
              <a:t>Manishkumar</a:t>
            </a:r>
            <a:r>
              <a:rPr lang="en-US" dirty="0"/>
              <a:t> R Solanki, </a:t>
            </a:r>
            <a:r>
              <a:rPr lang="en-US" dirty="0" err="1"/>
              <a:t>Abhijit</a:t>
            </a:r>
            <a:r>
              <a:rPr lang="en-US" dirty="0"/>
              <a:t> </a:t>
            </a:r>
            <a:r>
              <a:rPr lang="en-US" dirty="0" err="1"/>
              <a:t>Dongaonkar</a:t>
            </a:r>
            <a:r>
              <a:rPr lang="en-US" dirty="0"/>
              <a:t>, “</a:t>
            </a:r>
            <a:r>
              <a:rPr lang="en-US" i="1" dirty="0"/>
              <a:t>A  Journey of Human Comfort: Web 1.0 to Web 4.0</a:t>
            </a:r>
            <a:r>
              <a:rPr lang="en-US" dirty="0"/>
              <a:t>”, International Journal of Research and Scientific Innovation (IJRSI) |Volume III, Issue IX, September 2016|ISSN 2321–2705.</a:t>
            </a:r>
          </a:p>
          <a:p>
            <a:pPr algn="just"/>
            <a:r>
              <a:rPr lang="en-US" dirty="0"/>
              <a:t>[2]. </a:t>
            </a:r>
            <a:r>
              <a:rPr lang="en-US" dirty="0" err="1"/>
              <a:t>Asaad</a:t>
            </a:r>
            <a:r>
              <a:rPr lang="en-US" dirty="0"/>
              <a:t> </a:t>
            </a:r>
            <a:r>
              <a:rPr lang="en-US" dirty="0" err="1"/>
              <a:t>Khaleel</a:t>
            </a:r>
            <a:r>
              <a:rPr lang="en-US" dirty="0"/>
              <a:t> Ibrahim, “</a:t>
            </a:r>
            <a:r>
              <a:rPr lang="en-US" i="1" dirty="0"/>
              <a:t>Evolution of the Web: from Web 1.0 to 4.0</a:t>
            </a:r>
            <a:r>
              <a:rPr lang="en-US" dirty="0"/>
              <a:t>”. June 2021, </a:t>
            </a:r>
            <a:r>
              <a:rPr lang="en-US" dirty="0" err="1"/>
              <a:t>Qubahan</a:t>
            </a:r>
            <a:r>
              <a:rPr lang="en-US" dirty="0"/>
              <a:t> Academic Journal 1(3):20-28, </a:t>
            </a:r>
            <a:r>
              <a:rPr lang="en-US" dirty="0" err="1"/>
              <a:t>Doi</a:t>
            </a:r>
            <a:r>
              <a:rPr lang="en-US" dirty="0"/>
              <a:t>: 10.48161/Issn.2709-8206.</a:t>
            </a:r>
          </a:p>
          <a:p>
            <a:pPr algn="just"/>
            <a:r>
              <a:rPr lang="en-US" dirty="0"/>
              <a:t>[3]. W. Hall, T. </a:t>
            </a:r>
            <a:r>
              <a:rPr lang="en-US" dirty="0" err="1"/>
              <a:t>Tiropanis</a:t>
            </a:r>
            <a:r>
              <a:rPr lang="en-US" dirty="0"/>
              <a:t>, “</a:t>
            </a:r>
            <a:r>
              <a:rPr lang="en-US" i="1" dirty="0"/>
              <a:t>Web Evolution and Web Science</a:t>
            </a:r>
            <a:r>
              <a:rPr lang="en-US" dirty="0"/>
              <a:t>”, Computer Networks (2012), </a:t>
            </a:r>
            <a:r>
              <a:rPr lang="en-US" dirty="0" err="1"/>
              <a:t>doi</a:t>
            </a:r>
            <a:r>
              <a:rPr lang="en-US" dirty="0"/>
              <a:t>: http://dx.doi.org/10.1016/j.comnet.2012.10.004. </a:t>
            </a:r>
          </a:p>
          <a:p>
            <a:pPr algn="just"/>
            <a:r>
              <a:rPr lang="en-US" dirty="0"/>
              <a:t>[4]. </a:t>
            </a:r>
            <a:r>
              <a:rPr lang="en-US" dirty="0" err="1"/>
              <a:t>Shekhar</a:t>
            </a:r>
            <a:r>
              <a:rPr lang="en-US" dirty="0"/>
              <a:t> </a:t>
            </a:r>
            <a:r>
              <a:rPr lang="en-US" dirty="0" err="1"/>
              <a:t>Rathor</a:t>
            </a:r>
            <a:r>
              <a:rPr lang="en-US" dirty="0"/>
              <a:t> </a:t>
            </a:r>
            <a:r>
              <a:rPr lang="en-US" dirty="0" err="1"/>
              <a:t>và</a:t>
            </a:r>
            <a:r>
              <a:rPr lang="en-US" dirty="0"/>
              <a:t> </a:t>
            </a:r>
            <a:r>
              <a:rPr lang="en-US" dirty="0" err="1"/>
              <a:t>cộng</a:t>
            </a:r>
            <a:r>
              <a:rPr lang="en-US" dirty="0"/>
              <a:t> </a:t>
            </a:r>
            <a:r>
              <a:rPr lang="en-US" dirty="0" err="1"/>
              <a:t>sự</a:t>
            </a:r>
            <a:r>
              <a:rPr lang="en-US" dirty="0"/>
              <a:t>, “</a:t>
            </a:r>
            <a:r>
              <a:rPr lang="en-US" i="1" dirty="0"/>
              <a:t>Web 3.0 and Sustainability Challenges and Research Opportunities</a:t>
            </a:r>
            <a:r>
              <a:rPr lang="en-US" dirty="0"/>
              <a:t>”. </a:t>
            </a:r>
            <a:r>
              <a:rPr lang="en-US" dirty="0" err="1"/>
              <a:t>Tháng</a:t>
            </a:r>
            <a:r>
              <a:rPr lang="en-US" dirty="0"/>
              <a:t> 10/2023, DOI:10.3390/su152015126.</a:t>
            </a:r>
          </a:p>
          <a:p>
            <a:pPr algn="just"/>
            <a:r>
              <a:rPr lang="en-US" dirty="0"/>
              <a:t>[5]. Flat Word Business “</a:t>
            </a:r>
            <a:r>
              <a:rPr lang="en-US" i="1" dirty="0"/>
              <a:t>Web 1.0 vs Web 2.0 vs Web 3.0 vs Web 4.0 – A bird’s eye on the evolution and definition</a:t>
            </a:r>
            <a:r>
              <a:rPr lang="en-US" dirty="0" smtClean="0"/>
              <a:t>” .</a:t>
            </a:r>
            <a:r>
              <a:rPr lang="en-US" dirty="0"/>
              <a:t>http://flatworldbusiness.wordpress.com/</a:t>
            </a:r>
            <a:r>
              <a:rPr lang="en-US" dirty="0" err="1"/>
              <a:t>flateducation</a:t>
            </a:r>
            <a:r>
              <a:rPr lang="en-US" dirty="0"/>
              <a:t>/previously/web-1-0-vs-web-2-0-vs-web-3-0-a-bird-eye-on-the-definition/. </a:t>
            </a:r>
            <a:r>
              <a:rPr lang="en-US" dirty="0" err="1"/>
              <a:t>Truy</a:t>
            </a:r>
            <a:r>
              <a:rPr lang="en-US" dirty="0"/>
              <a:t> </a:t>
            </a:r>
            <a:r>
              <a:rPr lang="en-US" dirty="0" err="1"/>
              <a:t>cập</a:t>
            </a:r>
            <a:r>
              <a:rPr lang="en-US" dirty="0"/>
              <a:t> </a:t>
            </a:r>
            <a:r>
              <a:rPr lang="en-US" dirty="0" err="1"/>
              <a:t>ngày</a:t>
            </a:r>
            <a:r>
              <a:rPr lang="en-US" dirty="0"/>
              <a:t> 28/8/2024.</a:t>
            </a:r>
          </a:p>
          <a:p>
            <a:pPr algn="just"/>
            <a:r>
              <a:rPr lang="en-US" dirty="0"/>
              <a:t>[6]. Fernando Almeida, “</a:t>
            </a:r>
            <a:r>
              <a:rPr lang="en-US" i="1" dirty="0"/>
              <a:t>Concept and Dimensions of Web 4.0</a:t>
            </a:r>
            <a:r>
              <a:rPr lang="en-US" dirty="0"/>
              <a:t>”. ISSN 2277-3061. Volume 16 Number 7, International journal of Computers and Technology (November, 2017</a:t>
            </a:r>
            <a:r>
              <a:rPr lang="en-US" dirty="0" smtClean="0"/>
              <a:t>).</a:t>
            </a:r>
          </a:p>
          <a:p>
            <a:pPr algn="just"/>
            <a:r>
              <a:rPr lang="en-US" dirty="0" smtClean="0"/>
              <a:t>[</a:t>
            </a:r>
            <a:r>
              <a:rPr lang="en-US" dirty="0"/>
              <a:t>7</a:t>
            </a:r>
            <a:r>
              <a:rPr lang="en-US" dirty="0" smtClean="0"/>
              <a:t>]. </a:t>
            </a:r>
            <a:r>
              <a:rPr lang="en-US" dirty="0"/>
              <a:t>S. </a:t>
            </a:r>
            <a:r>
              <a:rPr lang="en-US" dirty="0" err="1"/>
              <a:t>Aghaei</a:t>
            </a:r>
            <a:r>
              <a:rPr lang="en-US" dirty="0"/>
              <a:t>, M. A. </a:t>
            </a:r>
            <a:r>
              <a:rPr lang="en-US" dirty="0" err="1"/>
              <a:t>Nematbakhsh</a:t>
            </a:r>
            <a:r>
              <a:rPr lang="en-US" dirty="0"/>
              <a:t>, and H. K. </a:t>
            </a:r>
            <a:r>
              <a:rPr lang="en-US" dirty="0" err="1"/>
              <a:t>Farsani</a:t>
            </a:r>
            <a:r>
              <a:rPr lang="en-US" dirty="0"/>
              <a:t>, “Evolution of the world wide web: From WEB 1.0 TO WEB 4.0,” Int. J. Web Semantic Technol., vol. 3, no. 1, pp. 1–10, 2012</a:t>
            </a:r>
            <a:r>
              <a:rPr lang="en-US" dirty="0" smtClean="0"/>
              <a:t>.</a:t>
            </a:r>
          </a:p>
          <a:p>
            <a:pPr algn="just"/>
            <a:r>
              <a:rPr lang="en-US" dirty="0" smtClean="0"/>
              <a:t>[</a:t>
            </a:r>
            <a:r>
              <a:rPr lang="en-US" dirty="0"/>
              <a:t>8</a:t>
            </a:r>
            <a:r>
              <a:rPr lang="en-US" dirty="0" smtClean="0"/>
              <a:t>]. </a:t>
            </a:r>
            <a:r>
              <a:rPr lang="en-US" dirty="0"/>
              <a:t>Zhou, Z., Li, Z. , Zhang, X., Sun, Y. and Xu, H, “A Review of Gaps between Web 4.0 and Web 3.0 Intelligent Network Infrastructure”. In: IEEE 9th World Forum on Internet of Things, </a:t>
            </a:r>
            <a:r>
              <a:rPr lang="en-US" dirty="0" err="1"/>
              <a:t>Aveiro</a:t>
            </a:r>
            <a:r>
              <a:rPr lang="en-US" dirty="0"/>
              <a:t>, Portugal, 12–27 Oct 2023, (Accepted for Publication)</a:t>
            </a:r>
          </a:p>
          <a:p>
            <a:pPr algn="just"/>
            <a:r>
              <a:rPr lang="en-US" dirty="0"/>
              <a:t>[9]. </a:t>
            </a:r>
            <a:r>
              <a:rPr lang="en-US" dirty="0" err="1" smtClean="0"/>
              <a:t>Nguyễn</a:t>
            </a:r>
            <a:r>
              <a:rPr lang="en-US" dirty="0" smtClean="0"/>
              <a:t> </a:t>
            </a:r>
            <a:r>
              <a:rPr lang="en-US" dirty="0" err="1" smtClean="0"/>
              <a:t>Ngọc</a:t>
            </a:r>
            <a:r>
              <a:rPr lang="en-US" dirty="0" smtClean="0"/>
              <a:t> </a:t>
            </a:r>
            <a:r>
              <a:rPr lang="en-US" dirty="0" err="1" smtClean="0"/>
              <a:t>Phú</a:t>
            </a:r>
            <a:r>
              <a:rPr lang="en-US" dirty="0" smtClean="0"/>
              <a:t>, “</a:t>
            </a:r>
            <a:r>
              <a:rPr lang="en-US" i="1" dirty="0" err="1" smtClean="0"/>
              <a:t>Ứng</a:t>
            </a:r>
            <a:r>
              <a:rPr lang="en-US" i="1" dirty="0" smtClean="0"/>
              <a:t> </a:t>
            </a:r>
            <a:r>
              <a:rPr lang="en-US" i="1" dirty="0" err="1"/>
              <a:t>dụng</a:t>
            </a:r>
            <a:r>
              <a:rPr lang="en-US" i="1" dirty="0"/>
              <a:t> web </a:t>
            </a:r>
            <a:r>
              <a:rPr lang="en-US" i="1" dirty="0" err="1"/>
              <a:t>ngữ</a:t>
            </a:r>
            <a:r>
              <a:rPr lang="en-US" i="1" dirty="0"/>
              <a:t> </a:t>
            </a:r>
            <a:r>
              <a:rPr lang="en-US" i="1" dirty="0" err="1"/>
              <a:t>nghĩa</a:t>
            </a:r>
            <a:r>
              <a:rPr lang="en-US" i="1" dirty="0"/>
              <a:t> </a:t>
            </a:r>
            <a:r>
              <a:rPr lang="en-US" i="1" dirty="0" err="1"/>
              <a:t>và</a:t>
            </a:r>
            <a:r>
              <a:rPr lang="en-US" i="1" dirty="0"/>
              <a:t> </a:t>
            </a:r>
            <a:r>
              <a:rPr lang="en-US" i="1" dirty="0" err="1"/>
              <a:t>khai</a:t>
            </a:r>
            <a:r>
              <a:rPr lang="en-US" i="1" dirty="0"/>
              <a:t> </a:t>
            </a:r>
            <a:r>
              <a:rPr lang="en-US" i="1" dirty="0" err="1"/>
              <a:t>phá</a:t>
            </a:r>
            <a:r>
              <a:rPr lang="en-US" i="1" dirty="0"/>
              <a:t> </a:t>
            </a:r>
            <a:r>
              <a:rPr lang="en-US" i="1" dirty="0" err="1"/>
              <a:t>dữ</a:t>
            </a:r>
            <a:r>
              <a:rPr lang="en-US" i="1" dirty="0"/>
              <a:t> </a:t>
            </a:r>
            <a:r>
              <a:rPr lang="en-US" i="1" dirty="0" err="1"/>
              <a:t>liệu</a:t>
            </a:r>
            <a:r>
              <a:rPr lang="en-US" i="1" dirty="0"/>
              <a:t> </a:t>
            </a:r>
            <a:r>
              <a:rPr lang="en-US" i="1" dirty="0" err="1"/>
              <a:t>xây</a:t>
            </a:r>
            <a:r>
              <a:rPr lang="en-US" i="1" dirty="0"/>
              <a:t> </a:t>
            </a:r>
            <a:r>
              <a:rPr lang="en-US" i="1" dirty="0" err="1"/>
              <a:t>dựng</a:t>
            </a:r>
            <a:r>
              <a:rPr lang="en-US" i="1" dirty="0"/>
              <a:t> </a:t>
            </a:r>
            <a:r>
              <a:rPr lang="en-US" i="1" dirty="0" err="1"/>
              <a:t>hệ</a:t>
            </a:r>
            <a:r>
              <a:rPr lang="en-US" i="1" dirty="0"/>
              <a:t> </a:t>
            </a:r>
            <a:r>
              <a:rPr lang="en-US" i="1" dirty="0" err="1"/>
              <a:t>thống</a:t>
            </a:r>
            <a:r>
              <a:rPr lang="en-US" i="1" dirty="0"/>
              <a:t> </a:t>
            </a:r>
            <a:r>
              <a:rPr lang="en-US" i="1" dirty="0" err="1"/>
              <a:t>tra</a:t>
            </a:r>
            <a:r>
              <a:rPr lang="en-US" i="1" dirty="0"/>
              <a:t> </a:t>
            </a:r>
            <a:r>
              <a:rPr lang="en-US" i="1" dirty="0" err="1"/>
              <a:t>cứu</a:t>
            </a:r>
            <a:r>
              <a:rPr lang="en-US" i="1" dirty="0"/>
              <a:t>, </a:t>
            </a:r>
            <a:r>
              <a:rPr lang="en-US" i="1" dirty="0" err="1"/>
              <a:t>thống</a:t>
            </a:r>
            <a:r>
              <a:rPr lang="en-US" i="1" dirty="0"/>
              <a:t> </a:t>
            </a:r>
            <a:r>
              <a:rPr lang="en-US" i="1" dirty="0" err="1"/>
              <a:t>kê</a:t>
            </a:r>
            <a:r>
              <a:rPr lang="en-US" i="1" dirty="0"/>
              <a:t> </a:t>
            </a:r>
            <a:r>
              <a:rPr lang="en-US" i="1" dirty="0" err="1"/>
              <a:t>các</a:t>
            </a:r>
            <a:r>
              <a:rPr lang="en-US" i="1" dirty="0"/>
              <a:t> </a:t>
            </a:r>
            <a:r>
              <a:rPr lang="en-US" i="1" dirty="0" err="1"/>
              <a:t>công</a:t>
            </a:r>
            <a:r>
              <a:rPr lang="en-US" i="1" dirty="0"/>
              <a:t> </a:t>
            </a:r>
            <a:r>
              <a:rPr lang="en-US" i="1" dirty="0" err="1"/>
              <a:t>trình</a:t>
            </a:r>
            <a:r>
              <a:rPr lang="en-US" i="1" dirty="0"/>
              <a:t> </a:t>
            </a:r>
            <a:r>
              <a:rPr lang="en-US" i="1" dirty="0" err="1"/>
              <a:t>nghiên</a:t>
            </a:r>
            <a:r>
              <a:rPr lang="en-US" i="1" dirty="0"/>
              <a:t> </a:t>
            </a:r>
            <a:r>
              <a:rPr lang="en-US" i="1" dirty="0" err="1"/>
              <a:t>cứu</a:t>
            </a:r>
            <a:r>
              <a:rPr lang="en-US" i="1" dirty="0"/>
              <a:t> </a:t>
            </a:r>
            <a:r>
              <a:rPr lang="en-US" i="1" dirty="0" err="1"/>
              <a:t>khoa</a:t>
            </a:r>
            <a:r>
              <a:rPr lang="en-US" i="1" dirty="0"/>
              <a:t> </a:t>
            </a:r>
            <a:r>
              <a:rPr lang="en-US" i="1" dirty="0" err="1" smtClean="0"/>
              <a:t>học</a:t>
            </a:r>
            <a:r>
              <a:rPr lang="en-US" sz="7200" dirty="0" smtClean="0"/>
              <a:t>”, </a:t>
            </a:r>
            <a:r>
              <a:rPr lang="en-US" dirty="0" err="1" smtClean="0"/>
              <a:t>luận</a:t>
            </a:r>
            <a:r>
              <a:rPr lang="en-US" dirty="0" smtClean="0"/>
              <a:t> </a:t>
            </a:r>
            <a:r>
              <a:rPr lang="en-US" dirty="0" err="1" smtClean="0"/>
              <a:t>văn</a:t>
            </a:r>
            <a:r>
              <a:rPr lang="en-US" dirty="0" smtClean="0"/>
              <a:t> </a:t>
            </a:r>
            <a:r>
              <a:rPr lang="en-US" dirty="0" err="1" smtClean="0"/>
              <a:t>Thạc</a:t>
            </a:r>
            <a:r>
              <a:rPr lang="en-US" dirty="0" smtClean="0"/>
              <a:t> </a:t>
            </a:r>
            <a:r>
              <a:rPr lang="en-US" dirty="0" err="1" smtClean="0"/>
              <a:t>sĩ</a:t>
            </a:r>
            <a:r>
              <a:rPr lang="en-US" dirty="0" smtClean="0"/>
              <a:t>, </a:t>
            </a:r>
            <a:r>
              <a:rPr lang="en-US" dirty="0" err="1" smtClean="0"/>
              <a:t>Đà</a:t>
            </a:r>
            <a:r>
              <a:rPr lang="en-US" dirty="0" smtClean="0"/>
              <a:t> </a:t>
            </a:r>
            <a:r>
              <a:rPr lang="en-US" dirty="0" err="1" smtClean="0"/>
              <a:t>Nẵng</a:t>
            </a:r>
            <a:r>
              <a:rPr lang="en-US" dirty="0" smtClean="0"/>
              <a:t>, 2013</a:t>
            </a:r>
          </a:p>
          <a:p>
            <a:pPr algn="just"/>
            <a:r>
              <a:rPr lang="en-US" dirty="0" smtClean="0"/>
              <a:t>[10]. </a:t>
            </a:r>
            <a:r>
              <a:rPr lang="en-US" dirty="0" err="1" smtClean="0"/>
              <a:t>Nguyễn</a:t>
            </a:r>
            <a:r>
              <a:rPr lang="en-US" dirty="0" smtClean="0"/>
              <a:t> </a:t>
            </a:r>
            <a:r>
              <a:rPr lang="en-US" dirty="0" err="1" smtClean="0"/>
              <a:t>Hoàng</a:t>
            </a:r>
            <a:r>
              <a:rPr lang="en-US" dirty="0" smtClean="0"/>
              <a:t> </a:t>
            </a:r>
            <a:r>
              <a:rPr lang="en-US" dirty="0" err="1" smtClean="0"/>
              <a:t>Sơn</a:t>
            </a:r>
            <a:r>
              <a:rPr lang="en-US" dirty="0" smtClean="0"/>
              <a:t> </a:t>
            </a:r>
            <a:r>
              <a:rPr lang="en-US" dirty="0" err="1" smtClean="0"/>
              <a:t>và</a:t>
            </a:r>
            <a:r>
              <a:rPr lang="en-US" dirty="0" smtClean="0"/>
              <a:t> </a:t>
            </a:r>
            <a:r>
              <a:rPr lang="en-US" dirty="0" err="1" smtClean="0"/>
              <a:t>cộng</a:t>
            </a:r>
            <a:r>
              <a:rPr lang="en-US" dirty="0" smtClean="0"/>
              <a:t> </a:t>
            </a:r>
            <a:r>
              <a:rPr lang="en-US" dirty="0" err="1" smtClean="0"/>
              <a:t>sự</a:t>
            </a:r>
            <a:r>
              <a:rPr lang="en-US" dirty="0" smtClean="0"/>
              <a:t>, “</a:t>
            </a:r>
            <a:r>
              <a:rPr lang="en-US" dirty="0" err="1" smtClean="0"/>
              <a:t>Các</a:t>
            </a:r>
            <a:r>
              <a:rPr lang="en-US" dirty="0" smtClean="0"/>
              <a:t> </a:t>
            </a:r>
            <a:r>
              <a:rPr lang="en-US" dirty="0" err="1" smtClean="0"/>
              <a:t>thế</a:t>
            </a:r>
            <a:r>
              <a:rPr lang="en-US" dirty="0" smtClean="0"/>
              <a:t> </a:t>
            </a:r>
            <a:r>
              <a:rPr lang="en-US" dirty="0" err="1" smtClean="0"/>
              <a:t>hệ</a:t>
            </a:r>
            <a:r>
              <a:rPr lang="en-US" dirty="0" smtClean="0"/>
              <a:t> </a:t>
            </a:r>
            <a:r>
              <a:rPr lang="en-US" dirty="0" err="1" smtClean="0"/>
              <a:t>thư</a:t>
            </a:r>
            <a:r>
              <a:rPr lang="en-US" dirty="0" smtClean="0"/>
              <a:t> </a:t>
            </a:r>
            <a:r>
              <a:rPr lang="en-US" dirty="0" err="1" smtClean="0"/>
              <a:t>viện</a:t>
            </a:r>
            <a:r>
              <a:rPr lang="en-US" dirty="0" smtClean="0"/>
              <a:t> </a:t>
            </a:r>
            <a:r>
              <a:rPr lang="en-US" dirty="0" err="1" smtClean="0"/>
              <a:t>thông</a:t>
            </a:r>
            <a:r>
              <a:rPr lang="en-US" dirty="0" smtClean="0"/>
              <a:t> minh (1990-2025)”, p19, “</a:t>
            </a:r>
            <a:r>
              <a:rPr lang="en-US" dirty="0" err="1" smtClean="0"/>
              <a:t>Thư</a:t>
            </a:r>
            <a:r>
              <a:rPr lang="en-US" dirty="0" smtClean="0"/>
              <a:t> </a:t>
            </a:r>
            <a:r>
              <a:rPr lang="en-US" dirty="0" err="1" smtClean="0"/>
              <a:t>viện</a:t>
            </a:r>
            <a:r>
              <a:rPr lang="en-US" dirty="0" smtClean="0"/>
              <a:t> </a:t>
            </a:r>
            <a:r>
              <a:rPr lang="en-US" dirty="0" err="1" smtClean="0"/>
              <a:t>thông</a:t>
            </a:r>
            <a:r>
              <a:rPr lang="en-US" dirty="0" smtClean="0"/>
              <a:t> minh 4.0 CÔNG NGHỆ _ DỮ LIỆU_CON NGƯỜI”, </a:t>
            </a:r>
            <a:r>
              <a:rPr lang="en-US" dirty="0" err="1" smtClean="0"/>
              <a:t>Nhà</a:t>
            </a:r>
            <a:r>
              <a:rPr lang="en-US" dirty="0" smtClean="0"/>
              <a:t> </a:t>
            </a:r>
            <a:r>
              <a:rPr lang="en-US" dirty="0" err="1" smtClean="0"/>
              <a:t>xuất</a:t>
            </a:r>
            <a:r>
              <a:rPr lang="en-US" dirty="0" smtClean="0"/>
              <a:t> </a:t>
            </a:r>
            <a:r>
              <a:rPr lang="en-US" dirty="0" err="1" smtClean="0"/>
              <a:t>bản</a:t>
            </a:r>
            <a:r>
              <a:rPr lang="en-US" dirty="0" smtClean="0"/>
              <a:t> </a:t>
            </a:r>
            <a:r>
              <a:rPr lang="en-US" dirty="0" err="1" smtClean="0"/>
              <a:t>Đại</a:t>
            </a:r>
            <a:r>
              <a:rPr lang="en-US" dirty="0" smtClean="0"/>
              <a:t> </a:t>
            </a:r>
            <a:r>
              <a:rPr lang="en-US" dirty="0" err="1" smtClean="0"/>
              <a:t>học</a:t>
            </a:r>
            <a:r>
              <a:rPr lang="en-US" dirty="0" smtClean="0"/>
              <a:t> </a:t>
            </a:r>
            <a:r>
              <a:rPr lang="en-US" dirty="0" err="1" smtClean="0"/>
              <a:t>Quốc</a:t>
            </a:r>
            <a:r>
              <a:rPr lang="en-US" dirty="0" smtClean="0"/>
              <a:t> </a:t>
            </a:r>
            <a:r>
              <a:rPr lang="en-US" dirty="0" err="1" smtClean="0"/>
              <a:t>Gia</a:t>
            </a:r>
            <a:r>
              <a:rPr lang="en-US" dirty="0" smtClean="0"/>
              <a:t> </a:t>
            </a:r>
            <a:r>
              <a:rPr lang="en-US" dirty="0" err="1" smtClean="0"/>
              <a:t>Hà</a:t>
            </a:r>
            <a:r>
              <a:rPr lang="en-US" dirty="0" smtClean="0"/>
              <a:t> </a:t>
            </a:r>
            <a:r>
              <a:rPr lang="en-US" dirty="0" err="1" smtClean="0"/>
              <a:t>Nội</a:t>
            </a:r>
            <a:endParaRPr lang="en-US" dirty="0" smtClean="0"/>
          </a:p>
          <a:p>
            <a:pPr algn="just"/>
            <a:r>
              <a:rPr lang="en-US" dirty="0" smtClean="0"/>
              <a:t>[11]. </a:t>
            </a:r>
            <a:r>
              <a:rPr lang="en-US" dirty="0" err="1"/>
              <a:t>Duy</a:t>
            </a:r>
            <a:r>
              <a:rPr lang="en-US" dirty="0"/>
              <a:t> NT, </a:t>
            </a:r>
            <a:r>
              <a:rPr lang="en-US" dirty="0" err="1"/>
              <a:t>Mondal</a:t>
            </a:r>
            <a:r>
              <a:rPr lang="en-US" dirty="0"/>
              <a:t> SR, Van NTT, </a:t>
            </a:r>
            <a:r>
              <a:rPr lang="en-US" dirty="0" err="1"/>
              <a:t>Dzung</a:t>
            </a:r>
            <a:r>
              <a:rPr lang="en-US" dirty="0"/>
              <a:t> PT, Minh DXH, Das S. </a:t>
            </a:r>
            <a:r>
              <a:rPr lang="en-US" dirty="0" smtClean="0"/>
              <a:t>“</a:t>
            </a:r>
            <a:r>
              <a:rPr lang="en-US" i="1" dirty="0" smtClean="0"/>
              <a:t>A </a:t>
            </a:r>
            <a:r>
              <a:rPr lang="en-US" i="1" dirty="0"/>
              <a:t>Study on the Role of Web 4.0 and 5.0 in the Sustainable Tourism Ecosystem of Ho Chi Minh City, </a:t>
            </a:r>
            <a:r>
              <a:rPr lang="en-US" i="1" dirty="0" smtClean="0"/>
              <a:t>Vietnam</a:t>
            </a:r>
            <a:r>
              <a:rPr lang="en-US" dirty="0" smtClean="0"/>
              <a:t>”. </a:t>
            </a:r>
            <a:r>
              <a:rPr lang="en-US" dirty="0"/>
              <a:t>Sustainability. 2020; 12(17):7140. https://doi.org/10.3390/su12177140</a:t>
            </a:r>
            <a:endParaRPr lang="en-US" dirty="0"/>
          </a:p>
        </p:txBody>
      </p:sp>
    </p:spTree>
    <p:extLst>
      <p:ext uri="{BB962C8B-B14F-4D97-AF65-F5344CB8AC3E}">
        <p14:creationId xmlns:p14="http://schemas.microsoft.com/office/powerpoint/2010/main" val="59582380"/>
      </p:ext>
    </p:extLst>
  </p:cSld>
  <p:clrMapOvr>
    <a:masterClrMapping/>
  </p:clrMapOvr>
</p:sld>
</file>

<file path=ppt/theme/theme1.xml><?xml version="1.0" encoding="utf-8"?>
<a:theme xmlns:a="http://schemas.openxmlformats.org/drawingml/2006/main" name="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6687569_Modern blue presentation_AAS_v5" id="{C7B59113-CD15-4341-96CA-86E715D5BE98}" vid="{5A8FDAEB-3DF3-4B3C-A708-49813F8D6F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5757914-1161-4661-9696-421FD6935CDD}">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5B26E0C9-B2AA-42E6-97B6-E1B7D9EAF129}">
  <ds:schemaRefs>
    <ds:schemaRef ds:uri="http://schemas.microsoft.com/sharepoint/v3/contenttype/forms"/>
  </ds:schemaRefs>
</ds:datastoreItem>
</file>

<file path=customXml/itemProps3.xml><?xml version="1.0" encoding="utf-8"?>
<ds:datastoreItem xmlns:ds="http://schemas.openxmlformats.org/officeDocument/2006/customXml" ds:itemID="{4C103400-4A22-4E35-B588-4C4D426389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Modern blue presentation</Template>
  <TotalTime>0</TotalTime>
  <Words>1879</Words>
  <Application>Microsoft Office PowerPoint</Application>
  <PresentationFormat>Widescreen</PresentationFormat>
  <Paragraphs>119</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Calibri</vt:lpstr>
      <vt:lpstr>Tahoma</vt:lpstr>
      <vt:lpstr>Times New Roman</vt:lpstr>
      <vt:lpstr>Trade Gothic LT Pro</vt:lpstr>
      <vt:lpstr>Trebuchet MS</vt:lpstr>
      <vt:lpstr>Office Theme</vt:lpstr>
      <vt:lpstr>SỰ PHÁT TRIỂN WEB 3.0 LÊN WEB 4.0  VÀ MỘT SỐ ỨNG DỤNG TẠI VIỆT NAM</vt:lpstr>
      <vt:lpstr>SỰ PHÁT TRIỂN WEB 3.0 LÊN WEB 4.0</vt:lpstr>
      <vt:lpstr>Giới thiệu Web 4.0</vt:lpstr>
      <vt:lpstr>Giới thiệu Web 4.0</vt:lpstr>
      <vt:lpstr>So sánh Web 4.0 và các thế hệ Web trước đó</vt:lpstr>
      <vt:lpstr>So sánh Web 4.0 với Web 3.0</vt:lpstr>
      <vt:lpstr>So sánh Web 4.0 với Web 3.0</vt:lpstr>
      <vt:lpstr>So sánh Web 4.0 với Web 3.0</vt:lpstr>
      <vt:lpstr>So sánh Web 4.0 với Web 3.0</vt:lpstr>
      <vt:lpstr>Thách thức của Web 4.0</vt:lpstr>
      <vt:lpstr>Thách thức của Web 4.0</vt:lpstr>
      <vt:lpstr>MỘT SỐ ỨNG DỤNG TẠI VIỆT NAM</vt:lpstr>
      <vt:lpstr>Xây dựng thư viện 4.0</vt:lpstr>
      <vt:lpstr>Du lịch với Web 4.0, 5.0</vt:lpstr>
      <vt:lpstr>Thank You</vt:lpstr>
      <vt:lpstr>Tài liệu tham khảo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2024-09-22T13:43:04Z</dcterms:created>
  <dcterms:modified xsi:type="dcterms:W3CDTF">2024-09-23T02:04:33Z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